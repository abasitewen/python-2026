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63" r:id="rId15"/>
    <p:sldId id="258" r:id="rId4"/>
    <p:sldId id="264" r:id="rId16"/>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04" d="100"/>
          <a:sy n="104" d="100"/>
        </p:scale>
        <p:origin x="232"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6/11/relationships/changesInfo" Target="changesInfos/changesInfo1.xml"/><Relationship Id="rId15" Type="http://schemas.openxmlformats.org/officeDocument/2006/relationships/slide" Target="slides/slide8.xml"/><Relationship Id="rId16"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teo Biagetti" userId="0eac0ff7-2bcb-4516-92cb-30eefbe48082" providerId="ADAL" clId="{4455D354-F3CA-5936-9AF2-692A43DC69FF}"/>
    <pc:docChg chg="modSld">
      <pc:chgData name="Matteo Biagetti" userId="0eac0ff7-2bcb-4516-92cb-30eefbe48082" providerId="ADAL" clId="{4455D354-F3CA-5936-9AF2-692A43DC69FF}" dt="2026-10-02T13:25:58.493" v="28" actId="1037"/>
      <pc:docMkLst>
        <pc:docMk/>
      </pc:docMkLst>
      <pc:sldChg chg="modSp mod">
        <pc:chgData name="Matteo Biagetti" userId="0eac0ff7-2bcb-4516-92cb-30eefbe48082" providerId="ADAL" clId="{4455D354-F3CA-5936-9AF2-692A43DC69FF}" dt="2026-10-02T13:25:58.493" v="28" actId="1037"/>
        <pc:sldMkLst>
          <pc:docMk/>
          <pc:sldMk cId="0" sldId="261"/>
        </pc:sldMkLst>
        <pc:spChg chg="mod">
          <ac:chgData name="Matteo Biagetti" userId="0eac0ff7-2bcb-4516-92cb-30eefbe48082" providerId="ADAL" clId="{4455D354-F3CA-5936-9AF2-692A43DC69FF}" dt="2026-10-02T13:25:27.507" v="7" actId="1076"/>
          <ac:spMkLst>
            <pc:docMk/>
            <pc:sldMk cId="0" sldId="261"/>
            <ac:spMk id="11" creationId="{00000000-0000-0000-0000-000000000000}"/>
          </ac:spMkLst>
        </pc:spChg>
        <pc:spChg chg="mod">
          <ac:chgData name="Matteo Biagetti" userId="0eac0ff7-2bcb-4516-92cb-30eefbe48082" providerId="ADAL" clId="{4455D354-F3CA-5936-9AF2-692A43DC69FF}" dt="2026-10-02T13:25:45.302" v="11" actId="1035"/>
          <ac:spMkLst>
            <pc:docMk/>
            <pc:sldMk cId="0" sldId="261"/>
            <ac:spMk id="12" creationId="{00000000-0000-0000-0000-000000000000}"/>
          </ac:spMkLst>
        </pc:spChg>
        <pc:spChg chg="mod">
          <ac:chgData name="Matteo Biagetti" userId="0eac0ff7-2bcb-4516-92cb-30eefbe48082" providerId="ADAL" clId="{4455D354-F3CA-5936-9AF2-692A43DC69FF}" dt="2026-10-02T13:25:16.089" v="5" actId="1076"/>
          <ac:spMkLst>
            <pc:docMk/>
            <pc:sldMk cId="0" sldId="261"/>
            <ac:spMk id="29" creationId="{00000000-0000-0000-0000-000000000000}"/>
          </ac:spMkLst>
        </pc:spChg>
        <pc:spChg chg="mod">
          <ac:chgData name="Matteo Biagetti" userId="0eac0ff7-2bcb-4516-92cb-30eefbe48082" providerId="ADAL" clId="{4455D354-F3CA-5936-9AF2-692A43DC69FF}" dt="2026-10-02T13:25:54.365" v="22" actId="1036"/>
          <ac:spMkLst>
            <pc:docMk/>
            <pc:sldMk cId="0" sldId="261"/>
            <ac:spMk id="30" creationId="{00000000-0000-0000-0000-000000000000}"/>
          </ac:spMkLst>
        </pc:spChg>
        <pc:spChg chg="mod">
          <ac:chgData name="Matteo Biagetti" userId="0eac0ff7-2bcb-4516-92cb-30eefbe48082" providerId="ADAL" clId="{4455D354-F3CA-5936-9AF2-692A43DC69FF}" dt="2026-10-02T13:25:05.888" v="3" actId="1076"/>
          <ac:spMkLst>
            <pc:docMk/>
            <pc:sldMk cId="0" sldId="261"/>
            <ac:spMk id="47" creationId="{00000000-0000-0000-0000-000000000000}"/>
          </ac:spMkLst>
        </pc:spChg>
        <pc:spChg chg="mod">
          <ac:chgData name="Matteo Biagetti" userId="0eac0ff7-2bcb-4516-92cb-30eefbe48082" providerId="ADAL" clId="{4455D354-F3CA-5936-9AF2-692A43DC69FF}" dt="2026-10-02T13:25:58.493" v="28" actId="1037"/>
          <ac:spMkLst>
            <pc:docMk/>
            <pc:sldMk cId="0" sldId="261"/>
            <ac:spMk id="4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0806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module of the coursework, 18 hours in four days. The line in orange is the thread of the course: data goes in raw and comes out as a trained model, and every step is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practical competence: Python as a tool you use on research data, not Python as a subject. The three reasons: curation work is code; the rest of the coursework assumes it; and the internship project is itself a data pipeline. The phrase "read, rerun and trust" is from the module description: reproducibility is the FAIR idea applied to your own analysis.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learning outcomes as published on the module page. The first two are what the rest of the master uses every day; the third is the bridge to Introduction to ML, Introduction to Deep Learning and Applied AI.</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Programming, data and AI modules of the coursework, from the 2026–27 lessons calendar; bars are teaching days. Python I comes right after the two foundation modules on Unix and Git, and opens the sequence of modules that use Python: Python II the following week, the Data Management and database modules, then Machine Learning, Deep Learning and Applied AI towards December. FAIR, open science, data stewardship, legal and security modules run in parallel and are not shown.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 is deliberately narrow: the tools to get data in, clean it, look at it and fit a model to it. Topics that other modules treat properly are only touched here: object-oriented design, testing, packaging and web APIs in Python II; pipelines and collaboration in Python for Data Management; databases in Introduction to DataBase; the theory of learning and of network architectures in Introduction to ML and Introduction to Deep Learning. We assume the shell and Git from the two foundation modules.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sessions are in the SISSA main building, rooms as in the official calendar. The first two days are about data: NumPy, pandas, files and plots. The last two days follow one machine-learning workflow from tensors to an evaluated network. The project exercise on CIFAR-10 images and newsgroup texts is meant for individual study after Wednesday; solutions follow.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Practicalities. Each two-hour block mixes a short explanation with exercises; you type the code yourselves. Bring a working environment on the first morning: the first block starts with the setup.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Three well-documented results that ran on the same open-source stack as this course. GW150914 (2015): PyCBC, one of the two matched-filter searches, is written mainly in Python; Brown et al. (2021) reproduced the main result from the public code and data. M87* (2019): the NumPy case study lists NumPy, SciPy, pandas, Astropy, eht-imaging and Matplotlib in the pipeline; Patel et al. (2022) rebuilt the workflow from public artifacts with Jupyter notebooks and Docker containers. AlphaFold (2021): open-source code in Python with JAX; half of the 2024 Nobel Prize in Chemistry went to Hassabis and Jumper. The point for this master: these results could be checked by others because code and data were public.</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Four outputs of the course notebooks, re-run for this slide with the course code: PCA by hand on a 10-dimensional Gaussian cloud with three intrinsic directions (cumulative explained variance 99.8% at three components); the 200-employee company dataset (correlation between salary and tenure 0.70); a 1,153-parameter MLP fitting a sine curve against a linear model; the digits classifier of notebook 09 (test accuracy 97.2% plus or minus 0.9%, linear model 93.3%, majority class 10%), shown as its confusion matrix.</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7030"/>
          </a:xfrm>
          <a:prstGeom prst="rect">
            <a:avLst/>
          </a:prstGeom>
          <a:noFill/>
          <a:ln/>
        </p:spPr>
        <p:txBody>
          <a:bodyPr wrap="square" lIns="0" tIns="0" rIns="0" bIns="0" rtlCol="0" anchor="t"/>
          <a:lstStyle>
            <a:lvl1pPr marL="0" indent="0" algn="l">
              <a:lnSpc>
                <a:spcPct val="115000"/>
              </a:lnSpc>
              <a:buNone/>
              <a:defRPr lang="en-US" sz="3200" dirty="0">
                <a:solidFill>
                  <a:srgbClr val="172033"/>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630"/>
            <a:ext cx="10566400" cy="4480570"/>
          </a:xfrm>
          <a:prstGeom prst="rect">
            <a:avLst/>
          </a:prstGeom>
          <a:noFill/>
          <a:ln/>
        </p:spPr>
        <p:txBody>
          <a:bodyPr wrap="square" lIns="0" tIns="0" rIns="0" bIns="0" rtlCol="0" anchor="t"/>
          <a:lstStyle>
            <a:lvl1pPr marL="0" indent="0" algn="l">
              <a:lnSpc>
                <a:spcPct val="140000"/>
              </a:lnSpc>
              <a:buNone/>
              <a:defRPr lang="en-US" sz="1600" dirty="0">
                <a:solidFill>
                  <a:srgbClr val="172033"/>
                </a:solidFill>
                <a:latin typeface="IBM Plex Mono" pitchFamily="34" charset="0"/>
                <a:ea typeface="IBM Plex Mono" pitchFamily="34" charset="-122"/>
                <a:cs typeface="IBM Plex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mailto:matteo.biagetti@areasciencepark.it"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F0A35E"/>
                </a:solidFill>
                <a:latin typeface="IBM Plex Mono" pitchFamily="49" charset="0"/>
                <a:ea typeface="IBM Plex Mono" pitchFamily="49" charset="-122"/>
                <a:cs typeface="IBM Plex Mono" pitchFamily="49" charset="-120"/>
              </a:rPr>
              <a:t>MASTER IN DATA MANAGEMENT AND CURATION · 2026–27</a:t>
            </a:r>
            <a:endParaRPr lang="en-US" sz="1200" dirty="0"/>
          </a:p>
        </p:txBody>
      </p:sp>
      <p:sp>
        <p:nvSpPr>
          <p:cNvPr id="3" name="Text 1"/>
          <p:cNvSpPr>
            <a:spLocks noGrp="1"/>
          </p:cNvSpPr>
          <p:nvPr>
            <p:ph type="title"/>
          </p:nvPr>
        </p:nvSpPr>
        <p:spPr>
          <a:xfrm>
            <a:off x="812800" y="2218779"/>
            <a:ext cx="10883392" cy="1038820"/>
          </a:xfrm>
          <a:prstGeom prst="rect">
            <a:avLst/>
          </a:prstGeom>
          <a:noFill/>
          <a:ln/>
        </p:spPr>
        <p:txBody>
          <a:bodyPr wrap="square" lIns="0" tIns="0" rIns="0" bIns="0" rtlCol="0" anchor="t">
            <a:normAutofit/>
          </a:bodyPr>
          <a:lstStyle/>
          <a:p>
            <a:pPr marL="0" indent="0" algn="l">
              <a:lnSpc>
                <a:spcPts val="7980"/>
              </a:lnSpc>
              <a:buNone/>
            </a:pPr>
            <a:r>
              <a:rPr lang="en-US" sz="7600" b="1" i="0" dirty="0">
                <a:solidFill>
                  <a:srgbClr val="F6F4EE"/>
                </a:solidFill>
                <a:latin typeface="IBM Plex Sans" pitchFamily="34" charset="0"/>
                <a:ea typeface="IBM Plex Sans" pitchFamily="34" charset="-122"/>
                <a:cs typeface="IBM Plex Sans" pitchFamily="34" charset="-120"/>
              </a:rPr>
              <a:t>Python I</a:t>
            </a:r>
            <a:endParaRPr lang="en-US" sz="7600" dirty="0"/>
          </a:p>
        </p:txBody>
      </p:sp>
      <p:sp>
        <p:nvSpPr>
          <p:cNvPr id="4" name="Text 2"/>
          <p:cNvSpPr/>
          <p:nvPr/>
        </p:nvSpPr>
        <p:spPr>
          <a:xfrm>
            <a:off x="812800" y="343540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dirty="0">
                <a:solidFill>
                  <a:srgbClr val="F6F4EE"/>
                </a:solidFill>
                <a:latin typeface="IBM Plex Sans" pitchFamily="34" charset="0"/>
                <a:ea typeface="IBM Plex Sans" pitchFamily="34" charset="-122"/>
                <a:cs typeface="IBM Plex Sans" pitchFamily="34" charset="-120"/>
              </a:rPr>
              <a:t>Python as a working tool for research data</a:t>
            </a:r>
            <a:endParaRPr lang="en-US" sz="3200" dirty="0"/>
          </a:p>
        </p:txBody>
      </p:sp>
      <p:sp>
        <p:nvSpPr>
          <p:cNvPr id="5" name="Text 3"/>
          <p:cNvSpPr/>
          <p:nvPr/>
        </p:nvSpPr>
        <p:spPr>
          <a:xfrm>
            <a:off x="812800" y="410592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A35E"/>
                </a:solidFill>
                <a:latin typeface="IBM Plex Mono" pitchFamily="49" charset="0"/>
                <a:ea typeface="IBM Plex Mono" pitchFamily="49" charset="-122"/>
                <a:cs typeface="IBM Plex Mono" pitchFamily="49" charset="-120"/>
              </a:rPr>
              <a:t>load → clean → analyze → visualize → train</a:t>
            </a:r>
            <a:endParaRPr lang="en-US" sz="1400" dirty="0"/>
          </a:p>
        </p:txBody>
      </p:sp>
      <p:sp>
        <p:nvSpPr>
          <p:cNvPr id="6" name="Text 4"/>
          <p:cNvSpPr/>
          <p:nvPr/>
        </p:nvSpPr>
        <p:spPr>
          <a:xfrm>
            <a:off x="812800" y="5547420"/>
            <a:ext cx="1487289"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8C2D3"/>
                </a:solidFill>
                <a:latin typeface="IBM Plex Sans" pitchFamily="34" charset="0"/>
                <a:ea typeface="IBM Plex Sans" pitchFamily="34" charset="-122"/>
                <a:cs typeface="IBM Plex Sans" pitchFamily="34" charset="-120"/>
              </a:rPr>
              <a:t>Matteo Biagetti</a:t>
            </a:r>
            <a:endParaRPr lang="en-US" sz="1400" dirty="0"/>
          </a:p>
          <a:p>
            <a:pPr marL="0" indent="0" algn="l">
              <a:lnSpc>
                <a:spcPts val="1960"/>
              </a:lnSpc>
              <a:buNone/>
            </a:pPr>
            <a:r>
              <a:rPr lang="en-US" sz="1400" dirty="0">
                <a:solidFill>
                  <a:srgbClr val="B8C2D3"/>
                </a:solidFill>
                <a:latin typeface="IBM Plex Sans" pitchFamily="34" charset="0"/>
                <a:ea typeface="IBM Plex Sans" pitchFamily="34" charset="-122"/>
                <a:cs typeface="IBM Plex Sans" pitchFamily="34" charset="-120"/>
              </a:rPr>
              <a:t>Area Science Park</a:t>
            </a:r>
            <a:endParaRPr lang="en-US" sz="1400" dirty="0"/>
          </a:p>
        </p:txBody>
      </p:sp>
      <p:sp>
        <p:nvSpPr>
          <p:cNvPr id="7" name="Text 5"/>
          <p:cNvSpPr/>
          <p:nvPr/>
        </p:nvSpPr>
        <p:spPr>
          <a:xfrm>
            <a:off x="9337235" y="5547420"/>
            <a:ext cx="2041965" cy="523180"/>
          </a:xfrm>
          <a:prstGeom prst="rect">
            <a:avLst/>
          </a:prstGeom>
          <a:noFill/>
          <a:ln/>
        </p:spPr>
        <p:txBody>
          <a:bodyPr wrap="square" lIns="0" tIns="0" rIns="0" bIns="0" rtlCol="0" anchor="t">
            <a:normAutofit/>
          </a:bodyPr>
          <a:lstStyle/>
          <a:p>
            <a:pPr marL="0" indent="0" algn="r">
              <a:lnSpc>
                <a:spcPts val="1960"/>
              </a:lnSpc>
              <a:buNone/>
            </a:pPr>
            <a:r>
              <a:rPr lang="en-US" sz="1400" dirty="0">
                <a:solidFill>
                  <a:srgbClr val="B8C2D3"/>
                </a:solidFill>
                <a:latin typeface="IBM Plex Sans" pitchFamily="34" charset="0"/>
                <a:ea typeface="IBM Plex Sans" pitchFamily="34" charset="-122"/>
                <a:cs typeface="IBM Plex Sans" pitchFamily="34" charset="-120"/>
              </a:rPr>
              <a:t>13–16 October 2026</a:t>
            </a:r>
            <a:endParaRPr lang="en-US" sz="1400" dirty="0"/>
          </a:p>
          <a:p>
            <a:pPr marL="0" indent="0" algn="r">
              <a:lnSpc>
                <a:spcPts val="1960"/>
              </a:lnSpc>
              <a:buNone/>
            </a:pPr>
            <a:r>
              <a:rPr lang="en-US" sz="1400" dirty="0">
                <a:solidFill>
                  <a:srgbClr val="B8C2D3"/>
                </a:solidFill>
                <a:latin typeface="IBM Plex Sans" pitchFamily="34" charset="0"/>
                <a:ea typeface="IBM Plex Sans" pitchFamily="34" charset="-122"/>
                <a:cs typeface="IBM Plex Sans" pitchFamily="34" charset="-120"/>
              </a:rPr>
              <a:t>SISSA, Trieste · 18 hours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Why this module</a:t>
            </a:r>
            <a:endParaRPr lang="en-US" sz="3200" dirty="0"/>
          </a:p>
        </p:txBody>
      </p:sp>
      <p:sp>
        <p:nvSpPr>
          <p:cNvPr id="3" name="Text 1"/>
          <p:cNvSpPr/>
          <p:nvPr/>
        </p:nvSpPr>
        <p:spPr>
          <a:xfrm>
            <a:off x="812800" y="1564630"/>
            <a:ext cx="9156700" cy="33397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72033"/>
                </a:solidFill>
                <a:latin typeface="IBM Plex Sans" pitchFamily="34" charset="0"/>
                <a:ea typeface="IBM Plex Sans" pitchFamily="34" charset="-122"/>
                <a:cs typeface="IBM Plex Sans" pitchFamily="34" charset="-120"/>
              </a:rPr>
              <a:t>From raw data to a trained model, code is the central tool.</a:t>
            </a:r>
            <a:endParaRPr lang="en-US" sz="1800" dirty="0"/>
          </a:p>
        </p:txBody>
      </p:sp>
      <p:sp>
        <p:nvSpPr>
          <p:cNvPr id="4" name="Shape 2"/>
          <p:cNvSpPr/>
          <p:nvPr/>
        </p:nvSpPr>
        <p:spPr>
          <a:xfrm>
            <a:off x="812800" y="2178000"/>
            <a:ext cx="3386634" cy="3664000"/>
          </a:xfrm>
          <a:prstGeom prst="roundRect">
            <a:avLst>
              <a:gd name="adj" fmla="val 3000"/>
            </a:avLst>
          </a:prstGeom>
          <a:solidFill>
            <a:srgbClr val="ECE8DF"/>
          </a:solidFill>
          <a:ln/>
        </p:spPr>
        <p:txBody>
          <a:bodyPr/>
          <a:lstStyle/>
          <a:p>
            <a:endParaRPr lang="en-IT"/>
          </a:p>
        </p:txBody>
      </p:sp>
      <p:sp>
        <p:nvSpPr>
          <p:cNvPr id="5" name="Text 3"/>
          <p:cNvSpPr/>
          <p:nvPr/>
        </p:nvSpPr>
        <p:spPr>
          <a:xfrm>
            <a:off x="1066800" y="2432000"/>
            <a:ext cx="296499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04E10"/>
                </a:solidFill>
                <a:latin typeface="IBM Plex Mono" pitchFamily="49" charset="0"/>
                <a:ea typeface="IBM Plex Mono" pitchFamily="49" charset="-122"/>
                <a:cs typeface="IBM Plex Mono" pitchFamily="49" charset="-120"/>
              </a:rPr>
              <a:t>01</a:t>
            </a:r>
            <a:endParaRPr lang="en-US" sz="1200" dirty="0"/>
          </a:p>
        </p:txBody>
      </p:sp>
      <p:sp>
        <p:nvSpPr>
          <p:cNvPr id="6" name="Text 4"/>
          <p:cNvSpPr/>
          <p:nvPr/>
        </p:nvSpPr>
        <p:spPr>
          <a:xfrm>
            <a:off x="1066800" y="2772321"/>
            <a:ext cx="2964993"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033"/>
                </a:solidFill>
                <a:latin typeface="IBM Plex Sans" pitchFamily="34" charset="0"/>
                <a:ea typeface="IBM Plex Sans" pitchFamily="34" charset="-122"/>
                <a:cs typeface="IBM Plex Sans" pitchFamily="34" charset="-120"/>
              </a:rPr>
              <a:t>Curation is done in code</a:t>
            </a:r>
            <a:endParaRPr lang="en-US" sz="1800" dirty="0"/>
          </a:p>
        </p:txBody>
      </p:sp>
      <p:sp>
        <p:nvSpPr>
          <p:cNvPr id="7" name="Text 5"/>
          <p:cNvSpPr/>
          <p:nvPr/>
        </p:nvSpPr>
        <p:spPr>
          <a:xfrm>
            <a:off x="1066800" y="3173611"/>
            <a:ext cx="2964993"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IBM Plex Sans" pitchFamily="34" charset="0"/>
                <a:ea typeface="IBM Plex Sans" pitchFamily="34" charset="-122"/>
                <a:cs typeface="IBM Plex Sans" pitchFamily="34" charset="-120"/>
              </a:rPr>
              <a:t>Checking, cleaning, transforming and documenting data are steps you write, run and can show to others.</a:t>
            </a:r>
            <a:endParaRPr lang="en-US" sz="1400" dirty="0"/>
          </a:p>
        </p:txBody>
      </p:sp>
      <p:sp>
        <p:nvSpPr>
          <p:cNvPr id="8" name="Shape 6"/>
          <p:cNvSpPr/>
          <p:nvPr/>
        </p:nvSpPr>
        <p:spPr>
          <a:xfrm>
            <a:off x="4402634" y="2178000"/>
            <a:ext cx="3386683" cy="3664000"/>
          </a:xfrm>
          <a:prstGeom prst="roundRect">
            <a:avLst>
              <a:gd name="adj" fmla="val 3000"/>
            </a:avLst>
          </a:prstGeom>
          <a:solidFill>
            <a:srgbClr val="ECE8DF"/>
          </a:solidFill>
          <a:ln/>
        </p:spPr>
        <p:txBody>
          <a:bodyPr/>
          <a:lstStyle/>
          <a:p>
            <a:endParaRPr lang="en-IT"/>
          </a:p>
        </p:txBody>
      </p:sp>
      <p:sp>
        <p:nvSpPr>
          <p:cNvPr id="9" name="Text 7"/>
          <p:cNvSpPr/>
          <p:nvPr/>
        </p:nvSpPr>
        <p:spPr>
          <a:xfrm>
            <a:off x="4656634" y="2432000"/>
            <a:ext cx="29650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04E10"/>
                </a:solidFill>
                <a:latin typeface="IBM Plex Mono" pitchFamily="49" charset="0"/>
                <a:ea typeface="IBM Plex Mono" pitchFamily="49" charset="-122"/>
                <a:cs typeface="IBM Plex Mono" pitchFamily="49" charset="-120"/>
              </a:rPr>
              <a:t>02</a:t>
            </a:r>
            <a:endParaRPr lang="en-US" sz="1200" dirty="0"/>
          </a:p>
        </p:txBody>
      </p:sp>
      <p:sp>
        <p:nvSpPr>
          <p:cNvPr id="10" name="Text 8"/>
          <p:cNvSpPr/>
          <p:nvPr/>
        </p:nvSpPr>
        <p:spPr>
          <a:xfrm>
            <a:off x="4656634" y="2772321"/>
            <a:ext cx="2965044"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033"/>
                </a:solidFill>
                <a:latin typeface="IBM Plex Sans" pitchFamily="34" charset="0"/>
                <a:ea typeface="IBM Plex Sans" pitchFamily="34" charset="-122"/>
                <a:cs typeface="IBM Plex Sans" pitchFamily="34" charset="-120"/>
              </a:rPr>
              <a:t>The common language of the coursework</a:t>
            </a:r>
            <a:endParaRPr lang="en-US" sz="1800" dirty="0"/>
          </a:p>
        </p:txBody>
      </p:sp>
      <p:sp>
        <p:nvSpPr>
          <p:cNvPr id="11" name="Text 9"/>
          <p:cNvSpPr/>
          <p:nvPr/>
        </p:nvSpPr>
        <p:spPr>
          <a:xfrm>
            <a:off x="4656634" y="3447901"/>
            <a:ext cx="2965044"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IBM Plex Sans" pitchFamily="34" charset="0"/>
                <a:ea typeface="IBM Plex Sans" pitchFamily="34" charset="-122"/>
                <a:cs typeface="IBM Plex Sans" pitchFamily="34" charset="-120"/>
              </a:rPr>
              <a:t>Python II, Python for Data Management, Machine Learning, Deep Learning and Applied AI all build on this week.</a:t>
            </a:r>
            <a:endParaRPr lang="en-US" sz="1400" dirty="0"/>
          </a:p>
        </p:txBody>
      </p:sp>
      <p:sp>
        <p:nvSpPr>
          <p:cNvPr id="12" name="Shape 10"/>
          <p:cNvSpPr/>
          <p:nvPr/>
        </p:nvSpPr>
        <p:spPr>
          <a:xfrm>
            <a:off x="7992517" y="2178000"/>
            <a:ext cx="3386683" cy="3664000"/>
          </a:xfrm>
          <a:prstGeom prst="roundRect">
            <a:avLst>
              <a:gd name="adj" fmla="val 3000"/>
            </a:avLst>
          </a:prstGeom>
          <a:solidFill>
            <a:srgbClr val="ECE8DF"/>
          </a:solidFill>
          <a:ln/>
        </p:spPr>
        <p:txBody>
          <a:bodyPr/>
          <a:lstStyle/>
          <a:p>
            <a:endParaRPr lang="en-IT"/>
          </a:p>
        </p:txBody>
      </p:sp>
      <p:sp>
        <p:nvSpPr>
          <p:cNvPr id="13" name="Text 11"/>
          <p:cNvSpPr/>
          <p:nvPr/>
        </p:nvSpPr>
        <p:spPr>
          <a:xfrm>
            <a:off x="8246517" y="2432000"/>
            <a:ext cx="29650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04E10"/>
                </a:solidFill>
                <a:latin typeface="IBM Plex Mono" pitchFamily="49" charset="0"/>
                <a:ea typeface="IBM Plex Mono" pitchFamily="49" charset="-122"/>
                <a:cs typeface="IBM Plex Mono" pitchFamily="49" charset="-120"/>
              </a:rPr>
              <a:t>03</a:t>
            </a:r>
            <a:endParaRPr lang="en-US" sz="1200" dirty="0"/>
          </a:p>
        </p:txBody>
      </p:sp>
      <p:sp>
        <p:nvSpPr>
          <p:cNvPr id="14" name="Text 12"/>
          <p:cNvSpPr/>
          <p:nvPr/>
        </p:nvSpPr>
        <p:spPr>
          <a:xfrm>
            <a:off x="8246517" y="2772321"/>
            <a:ext cx="296504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033"/>
                </a:solidFill>
                <a:latin typeface="IBM Plex Sans" pitchFamily="34" charset="0"/>
                <a:ea typeface="IBM Plex Sans" pitchFamily="34" charset="-122"/>
                <a:cs typeface="IBM Plex Sans" pitchFamily="34" charset="-120"/>
              </a:rPr>
              <a:t>Your internship project</a:t>
            </a:r>
            <a:endParaRPr lang="en-US" sz="1800" dirty="0"/>
          </a:p>
        </p:txBody>
      </p:sp>
      <p:sp>
        <p:nvSpPr>
          <p:cNvPr id="15" name="Text 13"/>
          <p:cNvSpPr/>
          <p:nvPr/>
        </p:nvSpPr>
        <p:spPr>
          <a:xfrm>
            <a:off x="8246517" y="3173611"/>
            <a:ext cx="2965044" cy="102096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IBM Plex Sans" pitchFamily="34" charset="0"/>
                <a:ea typeface="IBM Plex Sans" pitchFamily="34" charset="-122"/>
                <a:cs typeface="IBM Plex Sans" pitchFamily="34" charset="-120"/>
              </a:rPr>
              <a:t>A FAIR-by-design data pipeline: from data collection to a documented dataset that others can reuse.</a:t>
            </a:r>
            <a:endParaRPr lang="en-US" sz="1400" dirty="0"/>
          </a:p>
        </p:txBody>
      </p:sp>
      <p:sp>
        <p:nvSpPr>
          <p:cNvPr id="16" name="Text 14"/>
          <p:cNvSpPr/>
          <p:nvPr/>
        </p:nvSpPr>
        <p:spPr>
          <a:xfrm>
            <a:off x="812800" y="6243340"/>
            <a:ext cx="25237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Python I · MDMC 2026–27</a:t>
            </a:r>
            <a:endParaRPr lang="en-US" sz="1200" dirty="0"/>
          </a:p>
        </p:txBody>
      </p:sp>
      <p:sp>
        <p:nvSpPr>
          <p:cNvPr id="17" name="Text 15"/>
          <p:cNvSpPr/>
          <p:nvPr/>
        </p:nvSpPr>
        <p:spPr>
          <a:xfrm>
            <a:off x="10830560" y="6243340"/>
            <a:ext cx="5486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6170"/>
                </a:solidFill>
                <a:latin typeface="IBM Plex Mono" pitchFamily="49" charset="0"/>
                <a:ea typeface="IBM Plex Mono" pitchFamily="49" charset="-122"/>
                <a:cs typeface="IBM Plex Mono" pitchFamily="49" charset="-120"/>
              </a:rPr>
              <a:t>2 / 9</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B36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50" dirty="0">
                <a:solidFill>
                  <a:srgbClr val="172033"/>
                </a:solidFill>
                <a:latin typeface="IBM Plex Mono" pitchFamily="49" charset="0"/>
                <a:ea typeface="IBM Plex Mono" pitchFamily="49" charset="-122"/>
                <a:cs typeface="IBM Plex Mono" pitchFamily="49" charset="-120"/>
              </a:rPr>
              <a:t>LEARNING OUTCOMES</a:t>
            </a:r>
            <a:endParaRPr lang="en-US" sz="1200" dirty="0"/>
          </a:p>
        </p:txBody>
      </p:sp>
      <p:sp>
        <p:nvSpPr>
          <p:cNvPr id="3" name="Text 1"/>
          <p:cNvSpPr>
            <a:spLocks noGrp="1"/>
          </p:cNvSpPr>
          <p:nvPr>
            <p:ph type="title"/>
          </p:nvPr>
        </p:nvSpPr>
        <p:spPr>
          <a:xfrm>
            <a:off x="812800" y="1127720"/>
            <a:ext cx="10883392" cy="299690"/>
          </a:xfrm>
          <a:prstGeom prst="rect">
            <a:avLst/>
          </a:prstGeom>
          <a:noFill/>
          <a:ln/>
        </p:spPr>
        <p:txBody>
          <a:bodyPr wrap="square" lIns="0" tIns="0" rIns="0" bIns="0" rtlCol="0" anchor="t">
            <a:normAutofit/>
          </a:bodyPr>
          <a:lstStyle/>
          <a:p>
            <a:pPr marL="0" indent="0" algn="l">
              <a:lnSpc>
                <a:spcPts val="2160"/>
              </a:lnSpc>
              <a:buNone/>
            </a:pPr>
            <a:r>
              <a:rPr lang="en-US" sz="1800" b="1" i="0" dirty="0">
                <a:solidFill>
                  <a:srgbClr val="172033"/>
                </a:solidFill>
                <a:latin typeface="IBM Plex Sans" pitchFamily="34" charset="0"/>
                <a:ea typeface="IBM Plex Sans" pitchFamily="34" charset="-122"/>
                <a:cs typeface="IBM Plex Sans" pitchFamily="34" charset="-120"/>
              </a:rPr>
              <a:t>By Friday 16 October you will be able to</a:t>
            </a:r>
            <a:endParaRPr lang="en-US" sz="1800" dirty="0"/>
          </a:p>
        </p:txBody>
      </p:sp>
      <p:sp>
        <p:nvSpPr>
          <p:cNvPr id="4" name="Text 2"/>
          <p:cNvSpPr/>
          <p:nvPr/>
        </p:nvSpPr>
        <p:spPr>
          <a:xfrm>
            <a:off x="812800" y="1808411"/>
            <a:ext cx="812800" cy="594320"/>
          </a:xfrm>
          <a:prstGeom prst="rect">
            <a:avLst/>
          </a:prstGeom>
          <a:noFill/>
          <a:ln/>
        </p:spPr>
        <p:txBody>
          <a:bodyPr wrap="square" lIns="0" tIns="0" rIns="0" bIns="0" rtlCol="0" anchor="t">
            <a:normAutofit/>
          </a:bodyPr>
          <a:lstStyle/>
          <a:p>
            <a:pPr marL="0" indent="0" algn="l">
              <a:lnSpc>
                <a:spcPts val="4480"/>
              </a:lnSpc>
              <a:buNone/>
            </a:pPr>
            <a:r>
              <a:rPr lang="en-US" sz="3200" dirty="0">
                <a:solidFill>
                  <a:srgbClr val="172033"/>
                </a:solidFill>
                <a:latin typeface="IBM Plex Mono" pitchFamily="49" charset="0"/>
                <a:ea typeface="IBM Plex Mono" pitchFamily="49" charset="-122"/>
                <a:cs typeface="IBM Plex Mono" pitchFamily="49" charset="-120"/>
              </a:rPr>
              <a:t>01</a:t>
            </a:r>
            <a:endParaRPr lang="en-US" sz="3200" dirty="0"/>
          </a:p>
        </p:txBody>
      </p:sp>
      <p:sp>
        <p:nvSpPr>
          <p:cNvPr id="5" name="Text 3"/>
          <p:cNvSpPr/>
          <p:nvPr/>
        </p:nvSpPr>
        <p:spPr>
          <a:xfrm>
            <a:off x="1879600" y="1868736"/>
            <a:ext cx="9679940" cy="91946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72033"/>
                </a:solidFill>
                <a:latin typeface="IBM Plex Sans" pitchFamily="34" charset="0"/>
                <a:ea typeface="IBM Plex Sans" pitchFamily="34" charset="-122"/>
                <a:cs typeface="IBM Plex Sans" pitchFamily="34" charset="-120"/>
              </a:rPr>
              <a:t>Write and structure Python code for practical data handling tasks</a:t>
            </a:r>
            <a:endParaRPr lang="en-US" sz="3200" dirty="0"/>
          </a:p>
        </p:txBody>
      </p:sp>
      <p:sp>
        <p:nvSpPr>
          <p:cNvPr id="6" name="Text 4"/>
          <p:cNvSpPr/>
          <p:nvPr/>
        </p:nvSpPr>
        <p:spPr>
          <a:xfrm>
            <a:off x="812800" y="3042196"/>
            <a:ext cx="812800" cy="594320"/>
          </a:xfrm>
          <a:prstGeom prst="rect">
            <a:avLst/>
          </a:prstGeom>
          <a:noFill/>
          <a:ln/>
        </p:spPr>
        <p:txBody>
          <a:bodyPr wrap="square" lIns="0" tIns="0" rIns="0" bIns="0" rtlCol="0" anchor="t">
            <a:normAutofit/>
          </a:bodyPr>
          <a:lstStyle/>
          <a:p>
            <a:pPr marL="0" indent="0" algn="l">
              <a:lnSpc>
                <a:spcPts val="4480"/>
              </a:lnSpc>
              <a:buNone/>
            </a:pPr>
            <a:r>
              <a:rPr lang="en-US" sz="3200" dirty="0">
                <a:solidFill>
                  <a:srgbClr val="172033"/>
                </a:solidFill>
                <a:latin typeface="IBM Plex Mono" pitchFamily="49" charset="0"/>
                <a:ea typeface="IBM Plex Mono" pitchFamily="49" charset="-122"/>
                <a:cs typeface="IBM Plex Mono" pitchFamily="49" charset="-120"/>
              </a:rPr>
              <a:t>02</a:t>
            </a:r>
            <a:endParaRPr lang="en-US" sz="3200" dirty="0"/>
          </a:p>
        </p:txBody>
      </p:sp>
      <p:sp>
        <p:nvSpPr>
          <p:cNvPr id="7" name="Text 5"/>
          <p:cNvSpPr/>
          <p:nvPr/>
        </p:nvSpPr>
        <p:spPr>
          <a:xfrm>
            <a:off x="1879600" y="3102521"/>
            <a:ext cx="9679940" cy="91946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72033"/>
                </a:solidFill>
                <a:latin typeface="IBM Plex Sans" pitchFamily="34" charset="0"/>
                <a:ea typeface="IBM Plex Sans" pitchFamily="34" charset="-122"/>
                <a:cs typeface="IBM Plex Sans" pitchFamily="34" charset="-120"/>
              </a:rPr>
              <a:t>Load, clean, transform and visualize research data reproducibly</a:t>
            </a:r>
            <a:endParaRPr lang="en-US" sz="3200" dirty="0"/>
          </a:p>
        </p:txBody>
      </p:sp>
      <p:sp>
        <p:nvSpPr>
          <p:cNvPr id="8" name="Text 6"/>
          <p:cNvSpPr/>
          <p:nvPr/>
        </p:nvSpPr>
        <p:spPr>
          <a:xfrm>
            <a:off x="812800" y="4275981"/>
            <a:ext cx="812800" cy="594320"/>
          </a:xfrm>
          <a:prstGeom prst="rect">
            <a:avLst/>
          </a:prstGeom>
          <a:noFill/>
          <a:ln/>
        </p:spPr>
        <p:txBody>
          <a:bodyPr wrap="square" lIns="0" tIns="0" rIns="0" bIns="0" rtlCol="0" anchor="t">
            <a:normAutofit/>
          </a:bodyPr>
          <a:lstStyle/>
          <a:p>
            <a:pPr marL="0" indent="0" algn="l">
              <a:lnSpc>
                <a:spcPts val="4480"/>
              </a:lnSpc>
              <a:buNone/>
            </a:pPr>
            <a:r>
              <a:rPr lang="en-US" sz="3200" dirty="0">
                <a:solidFill>
                  <a:srgbClr val="172033"/>
                </a:solidFill>
                <a:latin typeface="IBM Plex Mono" pitchFamily="49" charset="0"/>
                <a:ea typeface="IBM Plex Mono" pitchFamily="49" charset="-122"/>
                <a:cs typeface="IBM Plex Mono" pitchFamily="49" charset="-120"/>
              </a:rPr>
              <a:t>03</a:t>
            </a:r>
            <a:endParaRPr lang="en-US" sz="3200" dirty="0"/>
          </a:p>
        </p:txBody>
      </p:sp>
      <p:sp>
        <p:nvSpPr>
          <p:cNvPr id="9" name="Text 7"/>
          <p:cNvSpPr/>
          <p:nvPr/>
        </p:nvSpPr>
        <p:spPr>
          <a:xfrm>
            <a:off x="1879600" y="4336306"/>
            <a:ext cx="9679940" cy="919460"/>
          </a:xfrm>
          <a:prstGeom prst="rect">
            <a:avLst/>
          </a:prstGeom>
          <a:noFill/>
          <a:ln/>
        </p:spPr>
        <p:txBody>
          <a:bodyPr wrap="square" lIns="0" tIns="0" rIns="0" bIns="0" rtlCol="0" anchor="t">
            <a:normAutofit/>
          </a:bodyPr>
          <a:lstStyle/>
          <a:p>
            <a:pPr marL="0" indent="0" algn="l">
              <a:lnSpc>
                <a:spcPts val="3520"/>
              </a:lnSpc>
              <a:buNone/>
            </a:pPr>
            <a:r>
              <a:rPr lang="en-US" sz="3200" dirty="0">
                <a:solidFill>
                  <a:srgbClr val="172033"/>
                </a:solidFill>
                <a:latin typeface="IBM Plex Sans" pitchFamily="34" charset="0"/>
                <a:ea typeface="IBM Plex Sans" pitchFamily="34" charset="-122"/>
                <a:cs typeface="IBM Plex Sans" pitchFamily="34" charset="-120"/>
              </a:rPr>
              <a:t>Build, train and evaluate a simple neural network model end to end</a:t>
            </a:r>
            <a:endParaRPr lang="en-US" sz="3200" dirty="0"/>
          </a:p>
        </p:txBody>
      </p:sp>
      <p:sp>
        <p:nvSpPr>
          <p:cNvPr id="10" name="Text 8"/>
          <p:cNvSpPr/>
          <p:nvPr/>
        </p:nvSpPr>
        <p:spPr>
          <a:xfrm>
            <a:off x="812800" y="6243340"/>
            <a:ext cx="25237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IBM Plex Mono" pitchFamily="49" charset="0"/>
                <a:ea typeface="IBM Plex Mono" pitchFamily="49" charset="-122"/>
                <a:cs typeface="IBM Plex Mono" pitchFamily="49" charset="-120"/>
              </a:rPr>
              <a:t>Python I · MDMC 2026–27</a:t>
            </a:r>
            <a:endParaRPr lang="en-US" sz="1200" dirty="0"/>
          </a:p>
        </p:txBody>
      </p:sp>
      <p:sp>
        <p:nvSpPr>
          <p:cNvPr id="11" name="Text 9"/>
          <p:cNvSpPr/>
          <p:nvPr/>
        </p:nvSpPr>
        <p:spPr>
          <a:xfrm>
            <a:off x="10830560" y="6243340"/>
            <a:ext cx="5486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72033"/>
                </a:solidFill>
                <a:latin typeface="IBM Plex Mono" pitchFamily="49" charset="0"/>
                <a:ea typeface="IBM Plex Mono" pitchFamily="49" charset="-122"/>
                <a:cs typeface="IBM Plex Mono" pitchFamily="49" charset="-120"/>
              </a:rPr>
              <a:t>4 / 9</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E8DF"/>
        </a:solidFill>
        <a:effectLst/>
      </p:bgPr>
    </p:bg>
    <p:spTree>
      <p:nvGrpSpPr>
        <p:cNvPr id="1" name=""/>
        <p:cNvGrpSpPr/>
        <p:nvPr/>
      </p:nvGrpSpPr>
      <p:grpSpPr>
        <a:xfrm>
          <a:off x="0" y="0"/>
          <a:ext cx="0" cy="0"/>
          <a:chOff x="0" y="0"/>
          <a:chExt cx="0" cy="0"/>
        </a:xfrm>
      </p:grpSpPr>
      <p:sp>
        <p:nvSpPr>
          <p:cNvPr id="2" name="Shape 0"/>
          <p:cNvSpPr/>
          <p:nvPr/>
        </p:nvSpPr>
        <p:spPr>
          <a:xfrm>
            <a:off x="6991350" y="1746250"/>
            <a:ext cx="12700" cy="3429000"/>
          </a:xfrm>
          <a:prstGeom prst="rect">
            <a:avLst/>
          </a:prstGeom>
          <a:solidFill>
            <a:srgbClr val="D3CEC2"/>
          </a:solidFill>
          <a:ln/>
        </p:spPr>
        <p:txBody>
          <a:bodyPr/>
          <a:lstStyle/>
          <a:p>
            <a:endParaRPr lang="en-IT"/>
          </a:p>
        </p:txBody>
      </p:sp>
      <p:sp>
        <p:nvSpPr>
          <p:cNvPr id="3" name="Shape 1"/>
          <p:cNvSpPr/>
          <p:nvPr/>
        </p:nvSpPr>
        <p:spPr>
          <a:xfrm>
            <a:off x="8851900" y="1746250"/>
            <a:ext cx="12700" cy="3429000"/>
          </a:xfrm>
          <a:prstGeom prst="rect">
            <a:avLst/>
          </a:prstGeom>
          <a:solidFill>
            <a:srgbClr val="D3CEC2"/>
          </a:solidFill>
          <a:ln/>
        </p:spPr>
        <p:txBody>
          <a:bodyPr/>
          <a:lstStyle/>
          <a:p>
            <a:endParaRPr lang="en-IT"/>
          </a:p>
        </p:txBody>
      </p:sp>
      <p:sp>
        <p:nvSpPr>
          <p:cNvPr id="4" name="Shape 2"/>
          <p:cNvSpPr/>
          <p:nvPr/>
        </p:nvSpPr>
        <p:spPr>
          <a:xfrm>
            <a:off x="10655300" y="1746250"/>
            <a:ext cx="12700" cy="3429000"/>
          </a:xfrm>
          <a:prstGeom prst="rect">
            <a:avLst/>
          </a:prstGeom>
          <a:solidFill>
            <a:srgbClr val="D3CEC2"/>
          </a:solidFill>
          <a:ln/>
        </p:spPr>
        <p:txBody>
          <a:bodyPr/>
          <a:lstStyle/>
          <a:p>
            <a:endParaRPr lang="en-IT"/>
          </a:p>
        </p:txBody>
      </p:sp>
      <p:sp>
        <p:nvSpPr>
          <p:cNvPr id="5" name="Text 3"/>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Where Python I sits in the coursework</a:t>
            </a:r>
            <a:endParaRPr lang="en-US" sz="3200" dirty="0"/>
          </a:p>
        </p:txBody>
      </p:sp>
      <p:sp>
        <p:nvSpPr>
          <p:cNvPr id="6" name="Text 4"/>
          <p:cNvSpPr/>
          <p:nvPr/>
        </p:nvSpPr>
        <p:spPr>
          <a:xfrm>
            <a:off x="812800" y="1513830"/>
            <a:ext cx="558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Sep</a:t>
            </a:r>
            <a:endParaRPr lang="en-US" sz="1200" dirty="0"/>
          </a:p>
        </p:txBody>
      </p:sp>
      <p:sp>
        <p:nvSpPr>
          <p:cNvPr id="7" name="Text 5"/>
          <p:cNvSpPr/>
          <p:nvPr/>
        </p:nvSpPr>
        <p:spPr>
          <a:xfrm>
            <a:off x="1466850" y="1513830"/>
            <a:ext cx="558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Oct</a:t>
            </a:r>
            <a:endParaRPr lang="en-US" sz="1200" dirty="0"/>
          </a:p>
        </p:txBody>
      </p:sp>
      <p:sp>
        <p:nvSpPr>
          <p:cNvPr id="8" name="Text 6"/>
          <p:cNvSpPr/>
          <p:nvPr/>
        </p:nvSpPr>
        <p:spPr>
          <a:xfrm>
            <a:off x="3327400" y="1513830"/>
            <a:ext cx="558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Nov</a:t>
            </a:r>
            <a:endParaRPr lang="en-US" sz="1200" dirty="0"/>
          </a:p>
        </p:txBody>
      </p:sp>
      <p:sp>
        <p:nvSpPr>
          <p:cNvPr id="9" name="Text 7"/>
          <p:cNvSpPr/>
          <p:nvPr/>
        </p:nvSpPr>
        <p:spPr>
          <a:xfrm>
            <a:off x="5130800" y="1513830"/>
            <a:ext cx="558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Dec</a:t>
            </a:r>
            <a:endParaRPr lang="en-US" sz="1200" dirty="0"/>
          </a:p>
        </p:txBody>
      </p:sp>
      <p:sp>
        <p:nvSpPr>
          <p:cNvPr id="10" name="Text 8"/>
          <p:cNvSpPr/>
          <p:nvPr/>
        </p:nvSpPr>
        <p:spPr>
          <a:xfrm>
            <a:off x="812800" y="1789410"/>
            <a:ext cx="3924300" cy="274290"/>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Scientific Programming Environment</a:t>
            </a:r>
            <a:endParaRPr lang="en-US" sz="1400" dirty="0"/>
          </a:p>
        </p:txBody>
      </p:sp>
      <p:sp>
        <p:nvSpPr>
          <p:cNvPr id="11" name="Text 9"/>
          <p:cNvSpPr/>
          <p:nvPr/>
        </p:nvSpPr>
        <p:spPr>
          <a:xfrm>
            <a:off x="4775200" y="18072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263"/>
                </a:solidFill>
                <a:latin typeface="IBM Plex Mono" pitchFamily="49" charset="0"/>
                <a:ea typeface="IBM Plex Mono" pitchFamily="49" charset="-122"/>
                <a:cs typeface="IBM Plex Mono" pitchFamily="49" charset="-120"/>
              </a:rPr>
              <a:t>Sep 23–30</a:t>
            </a:r>
            <a:endParaRPr lang="en-US" sz="1200" dirty="0"/>
          </a:p>
        </p:txBody>
      </p:sp>
      <p:sp>
        <p:nvSpPr>
          <p:cNvPr id="12" name="Shape 10"/>
          <p:cNvSpPr/>
          <p:nvPr/>
        </p:nvSpPr>
        <p:spPr>
          <a:xfrm>
            <a:off x="6508105" y="1824980"/>
            <a:ext cx="107305" cy="177800"/>
          </a:xfrm>
          <a:prstGeom prst="roundRect">
            <a:avLst>
              <a:gd name="adj" fmla="val 23671"/>
            </a:avLst>
          </a:prstGeom>
          <a:solidFill>
            <a:srgbClr val="6F7F94"/>
          </a:solidFill>
          <a:ln/>
        </p:spPr>
        <p:txBody>
          <a:bodyPr/>
          <a:lstStyle/>
          <a:p>
            <a:endParaRPr lang="en-IT"/>
          </a:p>
        </p:txBody>
      </p:sp>
      <p:sp>
        <p:nvSpPr>
          <p:cNvPr id="13" name="Shape 11"/>
          <p:cNvSpPr/>
          <p:nvPr/>
        </p:nvSpPr>
        <p:spPr>
          <a:xfrm>
            <a:off x="6869410" y="1824980"/>
            <a:ext cx="107305" cy="177800"/>
          </a:xfrm>
          <a:prstGeom prst="roundRect">
            <a:avLst>
              <a:gd name="adj" fmla="val 23671"/>
            </a:avLst>
          </a:prstGeom>
          <a:solidFill>
            <a:srgbClr val="6F7F94"/>
          </a:solidFill>
          <a:ln/>
        </p:spPr>
        <p:txBody>
          <a:bodyPr/>
          <a:lstStyle/>
          <a:p>
            <a:endParaRPr lang="en-IT"/>
          </a:p>
        </p:txBody>
      </p:sp>
      <p:sp>
        <p:nvSpPr>
          <p:cNvPr id="14" name="Text 12"/>
          <p:cNvSpPr/>
          <p:nvPr/>
        </p:nvSpPr>
        <p:spPr>
          <a:xfrm>
            <a:off x="812800" y="2132310"/>
            <a:ext cx="3924300" cy="274290"/>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Scientific Programming Methods</a:t>
            </a:r>
            <a:endParaRPr lang="en-US" sz="1400" dirty="0"/>
          </a:p>
        </p:txBody>
      </p:sp>
      <p:sp>
        <p:nvSpPr>
          <p:cNvPr id="15" name="Text 13"/>
          <p:cNvSpPr/>
          <p:nvPr/>
        </p:nvSpPr>
        <p:spPr>
          <a:xfrm>
            <a:off x="4775200" y="21501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263"/>
                </a:solidFill>
                <a:latin typeface="IBM Plex Mono" pitchFamily="49" charset="0"/>
                <a:ea typeface="IBM Plex Mono" pitchFamily="49" charset="-122"/>
                <a:cs typeface="IBM Plex Mono" pitchFamily="49" charset="-120"/>
              </a:rPr>
              <a:t>Sep 29 – Oct 9</a:t>
            </a:r>
            <a:endParaRPr lang="en-US" sz="1200" dirty="0"/>
          </a:p>
        </p:txBody>
      </p:sp>
      <p:sp>
        <p:nvSpPr>
          <p:cNvPr id="16" name="Shape 14"/>
          <p:cNvSpPr/>
          <p:nvPr/>
        </p:nvSpPr>
        <p:spPr>
          <a:xfrm>
            <a:off x="6869410" y="2167880"/>
            <a:ext cx="47625" cy="177800"/>
          </a:xfrm>
          <a:prstGeom prst="roundRect">
            <a:avLst>
              <a:gd name="adj" fmla="val 50000"/>
            </a:avLst>
          </a:prstGeom>
          <a:solidFill>
            <a:srgbClr val="6F7F94"/>
          </a:solidFill>
          <a:ln/>
        </p:spPr>
        <p:txBody>
          <a:bodyPr/>
          <a:lstStyle/>
          <a:p>
            <a:endParaRPr lang="en-IT"/>
          </a:p>
        </p:txBody>
      </p:sp>
      <p:sp>
        <p:nvSpPr>
          <p:cNvPr id="17" name="Shape 15"/>
          <p:cNvSpPr/>
          <p:nvPr/>
        </p:nvSpPr>
        <p:spPr>
          <a:xfrm>
            <a:off x="6989415" y="2167880"/>
            <a:ext cx="107305" cy="177800"/>
          </a:xfrm>
          <a:prstGeom prst="roundRect">
            <a:avLst>
              <a:gd name="adj" fmla="val 23671"/>
            </a:avLst>
          </a:prstGeom>
          <a:solidFill>
            <a:srgbClr val="6F7F94"/>
          </a:solidFill>
          <a:ln/>
        </p:spPr>
        <p:txBody>
          <a:bodyPr/>
          <a:lstStyle/>
          <a:p>
            <a:endParaRPr lang="en-IT"/>
          </a:p>
        </p:txBody>
      </p:sp>
      <p:sp>
        <p:nvSpPr>
          <p:cNvPr id="18" name="Shape 16"/>
          <p:cNvSpPr/>
          <p:nvPr/>
        </p:nvSpPr>
        <p:spPr>
          <a:xfrm>
            <a:off x="7230070" y="2167880"/>
            <a:ext cx="107305" cy="177800"/>
          </a:xfrm>
          <a:prstGeom prst="roundRect">
            <a:avLst>
              <a:gd name="adj" fmla="val 23671"/>
            </a:avLst>
          </a:prstGeom>
          <a:solidFill>
            <a:srgbClr val="6F7F94"/>
          </a:solidFill>
          <a:ln/>
        </p:spPr>
        <p:txBody>
          <a:bodyPr/>
          <a:lstStyle/>
          <a:p>
            <a:endParaRPr lang="en-IT"/>
          </a:p>
        </p:txBody>
      </p:sp>
      <p:sp>
        <p:nvSpPr>
          <p:cNvPr id="19" name="Shape 17"/>
          <p:cNvSpPr/>
          <p:nvPr/>
        </p:nvSpPr>
        <p:spPr>
          <a:xfrm>
            <a:off x="7470775" y="2167880"/>
            <a:ext cx="47625" cy="177800"/>
          </a:xfrm>
          <a:prstGeom prst="roundRect">
            <a:avLst>
              <a:gd name="adj" fmla="val 50000"/>
            </a:avLst>
          </a:prstGeom>
          <a:solidFill>
            <a:srgbClr val="6F7F94"/>
          </a:solidFill>
          <a:ln/>
        </p:spPr>
        <p:txBody>
          <a:bodyPr/>
          <a:lstStyle/>
          <a:p>
            <a:endParaRPr lang="en-IT"/>
          </a:p>
        </p:txBody>
      </p:sp>
      <p:sp>
        <p:nvSpPr>
          <p:cNvPr id="20" name="Text 18"/>
          <p:cNvSpPr/>
          <p:nvPr/>
        </p:nvSpPr>
        <p:spPr>
          <a:xfrm>
            <a:off x="812800" y="2475210"/>
            <a:ext cx="3924300"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A04E10"/>
                </a:solidFill>
                <a:latin typeface="IBM Plex Sans" pitchFamily="34" charset="0"/>
                <a:ea typeface="IBM Plex Sans" pitchFamily="34" charset="-122"/>
                <a:cs typeface="IBM Plex Sans" pitchFamily="34" charset="-120"/>
              </a:rPr>
              <a:t>Python I</a:t>
            </a:r>
            <a:endParaRPr lang="en-US" sz="1400" dirty="0"/>
          </a:p>
        </p:txBody>
      </p:sp>
      <p:sp>
        <p:nvSpPr>
          <p:cNvPr id="21" name="Text 19"/>
          <p:cNvSpPr/>
          <p:nvPr/>
        </p:nvSpPr>
        <p:spPr>
          <a:xfrm>
            <a:off x="4775200" y="24930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A04E10"/>
                </a:solidFill>
                <a:latin typeface="IBM Plex Mono" pitchFamily="49" charset="0"/>
                <a:ea typeface="IBM Plex Mono" pitchFamily="49" charset="-122"/>
                <a:cs typeface="IBM Plex Mono" pitchFamily="49" charset="-120"/>
              </a:rPr>
              <a:t>Oct 13–16</a:t>
            </a:r>
            <a:endParaRPr lang="en-US" sz="1200" dirty="0"/>
          </a:p>
        </p:txBody>
      </p:sp>
      <p:sp>
        <p:nvSpPr>
          <p:cNvPr id="22" name="Shape 20"/>
          <p:cNvSpPr/>
          <p:nvPr/>
        </p:nvSpPr>
        <p:spPr>
          <a:xfrm>
            <a:off x="7710785" y="2510780"/>
            <a:ext cx="227955" cy="177800"/>
          </a:xfrm>
          <a:prstGeom prst="roundRect">
            <a:avLst>
              <a:gd name="adj" fmla="val 14286"/>
            </a:avLst>
          </a:prstGeom>
          <a:solidFill>
            <a:srgbClr val="C8661A"/>
          </a:solidFill>
          <a:ln/>
        </p:spPr>
        <p:txBody>
          <a:bodyPr/>
          <a:lstStyle/>
          <a:p>
            <a:endParaRPr lang="en-IT"/>
          </a:p>
        </p:txBody>
      </p:sp>
      <p:sp>
        <p:nvSpPr>
          <p:cNvPr id="23" name="Text 21"/>
          <p:cNvSpPr/>
          <p:nvPr/>
        </p:nvSpPr>
        <p:spPr>
          <a:xfrm>
            <a:off x="812800" y="2818110"/>
            <a:ext cx="3924300" cy="274290"/>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Python II</a:t>
            </a:r>
            <a:endParaRPr lang="en-US" sz="1400" dirty="0"/>
          </a:p>
        </p:txBody>
      </p:sp>
      <p:sp>
        <p:nvSpPr>
          <p:cNvPr id="24" name="Text 22"/>
          <p:cNvSpPr/>
          <p:nvPr/>
        </p:nvSpPr>
        <p:spPr>
          <a:xfrm>
            <a:off x="4775200" y="28359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263"/>
                </a:solidFill>
                <a:latin typeface="IBM Plex Mono" pitchFamily="49" charset="0"/>
                <a:ea typeface="IBM Plex Mono" pitchFamily="49" charset="-122"/>
                <a:cs typeface="IBM Plex Mono" pitchFamily="49" charset="-120"/>
              </a:rPr>
              <a:t>Oct 19–23</a:t>
            </a:r>
            <a:endParaRPr lang="en-US" sz="1200" dirty="0"/>
          </a:p>
        </p:txBody>
      </p:sp>
      <p:sp>
        <p:nvSpPr>
          <p:cNvPr id="25" name="Shape 23"/>
          <p:cNvSpPr/>
          <p:nvPr/>
        </p:nvSpPr>
        <p:spPr>
          <a:xfrm>
            <a:off x="8072090" y="2853680"/>
            <a:ext cx="47625" cy="177800"/>
          </a:xfrm>
          <a:prstGeom prst="roundRect">
            <a:avLst>
              <a:gd name="adj" fmla="val 50000"/>
            </a:avLst>
          </a:prstGeom>
          <a:solidFill>
            <a:srgbClr val="2F5D8A"/>
          </a:solidFill>
          <a:ln/>
        </p:spPr>
        <p:txBody>
          <a:bodyPr/>
          <a:lstStyle/>
          <a:p>
            <a:endParaRPr lang="en-IT"/>
          </a:p>
        </p:txBody>
      </p:sp>
      <p:sp>
        <p:nvSpPr>
          <p:cNvPr id="26" name="Shape 24"/>
          <p:cNvSpPr/>
          <p:nvPr/>
        </p:nvSpPr>
        <p:spPr>
          <a:xfrm>
            <a:off x="8192095" y="2853680"/>
            <a:ext cx="167630" cy="177800"/>
          </a:xfrm>
          <a:prstGeom prst="roundRect">
            <a:avLst>
              <a:gd name="adj" fmla="val 15152"/>
            </a:avLst>
          </a:prstGeom>
          <a:solidFill>
            <a:srgbClr val="2F5D8A"/>
          </a:solidFill>
          <a:ln/>
        </p:spPr>
        <p:txBody>
          <a:bodyPr/>
          <a:lstStyle/>
          <a:p>
            <a:endParaRPr lang="en-IT"/>
          </a:p>
        </p:txBody>
      </p:sp>
      <p:sp>
        <p:nvSpPr>
          <p:cNvPr id="27" name="Text 25"/>
          <p:cNvSpPr/>
          <p:nvPr/>
        </p:nvSpPr>
        <p:spPr>
          <a:xfrm>
            <a:off x="812800" y="3161010"/>
            <a:ext cx="3924300" cy="274290"/>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Introduction to DataBase</a:t>
            </a:r>
            <a:endParaRPr lang="en-US" sz="1400" dirty="0"/>
          </a:p>
        </p:txBody>
      </p:sp>
      <p:sp>
        <p:nvSpPr>
          <p:cNvPr id="28" name="Text 26"/>
          <p:cNvSpPr/>
          <p:nvPr/>
        </p:nvSpPr>
        <p:spPr>
          <a:xfrm>
            <a:off x="4775200" y="31788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263"/>
                </a:solidFill>
                <a:latin typeface="IBM Plex Mono" pitchFamily="49" charset="0"/>
                <a:ea typeface="IBM Plex Mono" pitchFamily="49" charset="-122"/>
                <a:cs typeface="IBM Plex Mono" pitchFamily="49" charset="-120"/>
              </a:rPr>
              <a:t>Oct 26 – Nov 13</a:t>
            </a:r>
            <a:endParaRPr lang="en-US" sz="1200" dirty="0"/>
          </a:p>
        </p:txBody>
      </p:sp>
      <p:sp>
        <p:nvSpPr>
          <p:cNvPr id="29" name="Shape 27"/>
          <p:cNvSpPr/>
          <p:nvPr/>
        </p:nvSpPr>
        <p:spPr>
          <a:xfrm>
            <a:off x="8492480" y="3196580"/>
            <a:ext cx="107305" cy="177800"/>
          </a:xfrm>
          <a:prstGeom prst="roundRect">
            <a:avLst>
              <a:gd name="adj" fmla="val 23671"/>
            </a:avLst>
          </a:prstGeom>
          <a:solidFill>
            <a:srgbClr val="2F5D8A"/>
          </a:solidFill>
          <a:ln/>
        </p:spPr>
        <p:txBody>
          <a:bodyPr/>
          <a:lstStyle/>
          <a:p>
            <a:endParaRPr lang="en-IT"/>
          </a:p>
        </p:txBody>
      </p:sp>
      <p:sp>
        <p:nvSpPr>
          <p:cNvPr id="30" name="Shape 28"/>
          <p:cNvSpPr/>
          <p:nvPr/>
        </p:nvSpPr>
        <p:spPr>
          <a:xfrm>
            <a:off x="9575155" y="3196580"/>
            <a:ext cx="47625" cy="177800"/>
          </a:xfrm>
          <a:prstGeom prst="roundRect">
            <a:avLst>
              <a:gd name="adj" fmla="val 50000"/>
            </a:avLst>
          </a:prstGeom>
          <a:solidFill>
            <a:srgbClr val="2F5D8A"/>
          </a:solidFill>
          <a:ln/>
        </p:spPr>
        <p:txBody>
          <a:bodyPr/>
          <a:lstStyle/>
          <a:p>
            <a:endParaRPr lang="en-IT"/>
          </a:p>
        </p:txBody>
      </p:sp>
      <p:sp>
        <p:nvSpPr>
          <p:cNvPr id="31" name="Text 29"/>
          <p:cNvSpPr/>
          <p:nvPr/>
        </p:nvSpPr>
        <p:spPr>
          <a:xfrm>
            <a:off x="812800" y="3503910"/>
            <a:ext cx="3924300" cy="274290"/>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Python for Data Management I</a:t>
            </a:r>
            <a:endParaRPr lang="en-US" sz="1400" dirty="0"/>
          </a:p>
        </p:txBody>
      </p:sp>
      <p:sp>
        <p:nvSpPr>
          <p:cNvPr id="32" name="Text 30"/>
          <p:cNvSpPr/>
          <p:nvPr/>
        </p:nvSpPr>
        <p:spPr>
          <a:xfrm>
            <a:off x="4775200" y="35217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263"/>
                </a:solidFill>
                <a:latin typeface="IBM Plex Mono" pitchFamily="49" charset="0"/>
                <a:ea typeface="IBM Plex Mono" pitchFamily="49" charset="-122"/>
                <a:cs typeface="IBM Plex Mono" pitchFamily="49" charset="-120"/>
              </a:rPr>
              <a:t>Oct 26 – Nov 6</a:t>
            </a:r>
            <a:endParaRPr lang="en-US" sz="1200" dirty="0"/>
          </a:p>
        </p:txBody>
      </p:sp>
      <p:sp>
        <p:nvSpPr>
          <p:cNvPr id="33" name="Shape 31"/>
          <p:cNvSpPr/>
          <p:nvPr/>
        </p:nvSpPr>
        <p:spPr>
          <a:xfrm>
            <a:off x="8492480" y="3539480"/>
            <a:ext cx="227955" cy="177800"/>
          </a:xfrm>
          <a:prstGeom prst="roundRect">
            <a:avLst>
              <a:gd name="adj" fmla="val 14286"/>
            </a:avLst>
          </a:prstGeom>
          <a:solidFill>
            <a:srgbClr val="2F5D8A"/>
          </a:solidFill>
          <a:ln/>
        </p:spPr>
        <p:txBody>
          <a:bodyPr/>
          <a:lstStyle/>
          <a:p>
            <a:endParaRPr lang="en-IT"/>
          </a:p>
        </p:txBody>
      </p:sp>
      <p:sp>
        <p:nvSpPr>
          <p:cNvPr id="34" name="Shape 32"/>
          <p:cNvSpPr/>
          <p:nvPr/>
        </p:nvSpPr>
        <p:spPr>
          <a:xfrm>
            <a:off x="9154120" y="3539480"/>
            <a:ext cx="47625" cy="177800"/>
          </a:xfrm>
          <a:prstGeom prst="roundRect">
            <a:avLst>
              <a:gd name="adj" fmla="val 50000"/>
            </a:avLst>
          </a:prstGeom>
          <a:solidFill>
            <a:srgbClr val="2F5D8A"/>
          </a:solidFill>
          <a:ln/>
        </p:spPr>
        <p:txBody>
          <a:bodyPr/>
          <a:lstStyle/>
          <a:p>
            <a:endParaRPr lang="en-IT"/>
          </a:p>
        </p:txBody>
      </p:sp>
      <p:sp>
        <p:nvSpPr>
          <p:cNvPr id="35" name="Text 33"/>
          <p:cNvSpPr/>
          <p:nvPr/>
        </p:nvSpPr>
        <p:spPr>
          <a:xfrm>
            <a:off x="812800" y="3846810"/>
            <a:ext cx="3924300" cy="274290"/>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Introduction to ML</a:t>
            </a:r>
            <a:endParaRPr lang="en-US" sz="1400" dirty="0"/>
          </a:p>
        </p:txBody>
      </p:sp>
      <p:sp>
        <p:nvSpPr>
          <p:cNvPr id="36" name="Text 34"/>
          <p:cNvSpPr/>
          <p:nvPr/>
        </p:nvSpPr>
        <p:spPr>
          <a:xfrm>
            <a:off x="4775200" y="38646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263"/>
                </a:solidFill>
                <a:latin typeface="IBM Plex Mono" pitchFamily="49" charset="0"/>
                <a:ea typeface="IBM Plex Mono" pitchFamily="49" charset="-122"/>
                <a:cs typeface="IBM Plex Mono" pitchFamily="49" charset="-120"/>
              </a:rPr>
              <a:t>Nov 9–12</a:t>
            </a:r>
            <a:endParaRPr lang="en-US" sz="1200" dirty="0"/>
          </a:p>
        </p:txBody>
      </p:sp>
      <p:sp>
        <p:nvSpPr>
          <p:cNvPr id="37" name="Shape 35"/>
          <p:cNvSpPr/>
          <p:nvPr/>
        </p:nvSpPr>
        <p:spPr>
          <a:xfrm>
            <a:off x="9334500" y="3882380"/>
            <a:ext cx="227955" cy="177800"/>
          </a:xfrm>
          <a:prstGeom prst="roundRect">
            <a:avLst>
              <a:gd name="adj" fmla="val 14286"/>
            </a:avLst>
          </a:prstGeom>
          <a:solidFill>
            <a:srgbClr val="172033"/>
          </a:solidFill>
          <a:ln/>
        </p:spPr>
        <p:txBody>
          <a:bodyPr/>
          <a:lstStyle/>
          <a:p>
            <a:endParaRPr lang="en-IT"/>
          </a:p>
        </p:txBody>
      </p:sp>
      <p:sp>
        <p:nvSpPr>
          <p:cNvPr id="38" name="Text 36"/>
          <p:cNvSpPr/>
          <p:nvPr/>
        </p:nvSpPr>
        <p:spPr>
          <a:xfrm>
            <a:off x="812800" y="4189710"/>
            <a:ext cx="3924300" cy="274290"/>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Python for Data Management II</a:t>
            </a:r>
            <a:endParaRPr lang="en-US" sz="1400" dirty="0"/>
          </a:p>
        </p:txBody>
      </p:sp>
      <p:sp>
        <p:nvSpPr>
          <p:cNvPr id="39" name="Text 37"/>
          <p:cNvSpPr/>
          <p:nvPr/>
        </p:nvSpPr>
        <p:spPr>
          <a:xfrm>
            <a:off x="4775200" y="42075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263"/>
                </a:solidFill>
                <a:latin typeface="IBM Plex Mono" pitchFamily="49" charset="0"/>
                <a:ea typeface="IBM Plex Mono" pitchFamily="49" charset="-122"/>
                <a:cs typeface="IBM Plex Mono" pitchFamily="49" charset="-120"/>
              </a:rPr>
              <a:t>Nov 16–24</a:t>
            </a:r>
            <a:endParaRPr lang="en-US" sz="1200" dirty="0"/>
          </a:p>
        </p:txBody>
      </p:sp>
      <p:sp>
        <p:nvSpPr>
          <p:cNvPr id="40" name="Shape 38"/>
          <p:cNvSpPr/>
          <p:nvPr/>
        </p:nvSpPr>
        <p:spPr>
          <a:xfrm>
            <a:off x="9755485" y="4225280"/>
            <a:ext cx="107305" cy="177800"/>
          </a:xfrm>
          <a:prstGeom prst="roundRect">
            <a:avLst>
              <a:gd name="adj" fmla="val 23671"/>
            </a:avLst>
          </a:prstGeom>
          <a:solidFill>
            <a:srgbClr val="2F5D8A"/>
          </a:solidFill>
          <a:ln/>
        </p:spPr>
        <p:txBody>
          <a:bodyPr/>
          <a:lstStyle/>
          <a:p>
            <a:endParaRPr lang="en-IT"/>
          </a:p>
        </p:txBody>
      </p:sp>
      <p:sp>
        <p:nvSpPr>
          <p:cNvPr id="41" name="Shape 39"/>
          <p:cNvSpPr/>
          <p:nvPr/>
        </p:nvSpPr>
        <p:spPr>
          <a:xfrm>
            <a:off x="9935815" y="4225280"/>
            <a:ext cx="47625" cy="177800"/>
          </a:xfrm>
          <a:prstGeom prst="roundRect">
            <a:avLst>
              <a:gd name="adj" fmla="val 50000"/>
            </a:avLst>
          </a:prstGeom>
          <a:solidFill>
            <a:srgbClr val="2F5D8A"/>
          </a:solidFill>
          <a:ln/>
        </p:spPr>
        <p:txBody>
          <a:bodyPr/>
          <a:lstStyle/>
          <a:p>
            <a:endParaRPr lang="en-IT"/>
          </a:p>
        </p:txBody>
      </p:sp>
      <p:sp>
        <p:nvSpPr>
          <p:cNvPr id="42" name="Shape 40"/>
          <p:cNvSpPr/>
          <p:nvPr/>
        </p:nvSpPr>
        <p:spPr>
          <a:xfrm>
            <a:off x="10236795" y="4225280"/>
            <a:ext cx="47625" cy="177800"/>
          </a:xfrm>
          <a:prstGeom prst="roundRect">
            <a:avLst>
              <a:gd name="adj" fmla="val 50000"/>
            </a:avLst>
          </a:prstGeom>
          <a:solidFill>
            <a:srgbClr val="2F5D8A"/>
          </a:solidFill>
          <a:ln/>
        </p:spPr>
        <p:txBody>
          <a:bodyPr/>
          <a:lstStyle/>
          <a:p>
            <a:endParaRPr lang="en-IT"/>
          </a:p>
        </p:txBody>
      </p:sp>
      <p:sp>
        <p:nvSpPr>
          <p:cNvPr id="43" name="Text 41"/>
          <p:cNvSpPr/>
          <p:nvPr/>
        </p:nvSpPr>
        <p:spPr>
          <a:xfrm>
            <a:off x="812800" y="4532610"/>
            <a:ext cx="3924300" cy="274290"/>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Introduction to Deep Learning</a:t>
            </a:r>
            <a:endParaRPr lang="en-US" sz="1400" dirty="0"/>
          </a:p>
        </p:txBody>
      </p:sp>
      <p:sp>
        <p:nvSpPr>
          <p:cNvPr id="44" name="Text 42"/>
          <p:cNvSpPr/>
          <p:nvPr/>
        </p:nvSpPr>
        <p:spPr>
          <a:xfrm>
            <a:off x="4775200" y="45504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263"/>
                </a:solidFill>
                <a:latin typeface="IBM Plex Mono" pitchFamily="49" charset="0"/>
                <a:ea typeface="IBM Plex Mono" pitchFamily="49" charset="-122"/>
                <a:cs typeface="IBM Plex Mono" pitchFamily="49" charset="-120"/>
              </a:rPr>
              <a:t>Nov 24–26</a:t>
            </a:r>
            <a:endParaRPr lang="en-US" sz="1200" dirty="0"/>
          </a:p>
        </p:txBody>
      </p:sp>
      <p:sp>
        <p:nvSpPr>
          <p:cNvPr id="45" name="Shape 43"/>
          <p:cNvSpPr/>
          <p:nvPr/>
        </p:nvSpPr>
        <p:spPr>
          <a:xfrm>
            <a:off x="10236795" y="4568180"/>
            <a:ext cx="167630" cy="177800"/>
          </a:xfrm>
          <a:prstGeom prst="roundRect">
            <a:avLst>
              <a:gd name="adj" fmla="val 15152"/>
            </a:avLst>
          </a:prstGeom>
          <a:solidFill>
            <a:srgbClr val="172033"/>
          </a:solidFill>
          <a:ln/>
        </p:spPr>
        <p:txBody>
          <a:bodyPr/>
          <a:lstStyle/>
          <a:p>
            <a:endParaRPr lang="en-IT"/>
          </a:p>
        </p:txBody>
      </p:sp>
      <p:sp>
        <p:nvSpPr>
          <p:cNvPr id="46" name="Text 44"/>
          <p:cNvSpPr/>
          <p:nvPr/>
        </p:nvSpPr>
        <p:spPr>
          <a:xfrm>
            <a:off x="812800" y="4875510"/>
            <a:ext cx="3924300" cy="274290"/>
          </a:xfrm>
          <a:prstGeom prst="rect">
            <a:avLst/>
          </a:prstGeom>
          <a:noFill/>
          <a:ln/>
        </p:spPr>
        <p:txBody>
          <a:bodyPr wrap="none" lIns="0" tIns="0" rIns="0" bIns="0"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Applied AI</a:t>
            </a:r>
            <a:endParaRPr lang="en-US" sz="1400" dirty="0"/>
          </a:p>
        </p:txBody>
      </p:sp>
      <p:sp>
        <p:nvSpPr>
          <p:cNvPr id="47" name="Text 45"/>
          <p:cNvSpPr/>
          <p:nvPr/>
        </p:nvSpPr>
        <p:spPr>
          <a:xfrm>
            <a:off x="4775200" y="4893320"/>
            <a:ext cx="1511300" cy="238720"/>
          </a:xfrm>
          <a:prstGeom prst="rect">
            <a:avLst/>
          </a:prstGeom>
          <a:noFill/>
          <a:ln/>
        </p:spPr>
        <p:txBody>
          <a:bodyPr wrap="none" lIns="0" tIns="0" rIns="0" bIns="0" rtlCol="0" anchor="t">
            <a:normAutofit/>
          </a:bodyPr>
          <a:lstStyle/>
          <a:p>
            <a:pPr marL="0" indent="0" algn="l">
              <a:lnSpc>
                <a:spcPts val="1680"/>
              </a:lnSpc>
              <a:buNone/>
            </a:pPr>
            <a:r>
              <a:rPr lang="en-US" sz="1200" dirty="0">
                <a:solidFill>
                  <a:srgbClr val="4A5263"/>
                </a:solidFill>
                <a:latin typeface="IBM Plex Mono" pitchFamily="49" charset="0"/>
                <a:ea typeface="IBM Plex Mono" pitchFamily="49" charset="-122"/>
                <a:cs typeface="IBM Plex Mono" pitchFamily="49" charset="-120"/>
              </a:rPr>
              <a:t>Dec 2–11</a:t>
            </a:r>
            <a:endParaRPr lang="en-US" sz="1200" dirty="0"/>
          </a:p>
        </p:txBody>
      </p:sp>
      <p:sp>
        <p:nvSpPr>
          <p:cNvPr id="48" name="Shape 46"/>
          <p:cNvSpPr/>
          <p:nvPr/>
        </p:nvSpPr>
        <p:spPr>
          <a:xfrm>
            <a:off x="10717510" y="4911080"/>
            <a:ext cx="167630" cy="177800"/>
          </a:xfrm>
          <a:prstGeom prst="roundRect">
            <a:avLst>
              <a:gd name="adj" fmla="val 15152"/>
            </a:avLst>
          </a:prstGeom>
          <a:solidFill>
            <a:srgbClr val="172033"/>
          </a:solidFill>
          <a:ln/>
        </p:spPr>
        <p:txBody>
          <a:bodyPr/>
          <a:lstStyle/>
          <a:p>
            <a:endParaRPr lang="en-IT"/>
          </a:p>
        </p:txBody>
      </p:sp>
      <p:sp>
        <p:nvSpPr>
          <p:cNvPr id="49" name="Shape 47"/>
          <p:cNvSpPr/>
          <p:nvPr/>
        </p:nvSpPr>
        <p:spPr>
          <a:xfrm>
            <a:off x="11138495" y="4911080"/>
            <a:ext cx="167630" cy="177800"/>
          </a:xfrm>
          <a:prstGeom prst="roundRect">
            <a:avLst>
              <a:gd name="adj" fmla="val 15152"/>
            </a:avLst>
          </a:prstGeom>
          <a:solidFill>
            <a:srgbClr val="172033"/>
          </a:solidFill>
          <a:ln/>
        </p:spPr>
        <p:txBody>
          <a:bodyPr/>
          <a:lstStyle/>
          <a:p>
            <a:endParaRPr lang="en-IT"/>
          </a:p>
        </p:txBody>
      </p:sp>
      <p:sp>
        <p:nvSpPr>
          <p:cNvPr id="50" name="Shape 48"/>
          <p:cNvSpPr/>
          <p:nvPr/>
        </p:nvSpPr>
        <p:spPr>
          <a:xfrm>
            <a:off x="812800" y="5443190"/>
            <a:ext cx="177800" cy="127000"/>
          </a:xfrm>
          <a:prstGeom prst="roundRect">
            <a:avLst>
              <a:gd name="adj" fmla="val 20000"/>
            </a:avLst>
          </a:prstGeom>
          <a:solidFill>
            <a:srgbClr val="6F7F94"/>
          </a:solidFill>
          <a:ln/>
        </p:spPr>
        <p:txBody>
          <a:bodyPr/>
          <a:lstStyle/>
          <a:p>
            <a:endParaRPr lang="en-IT"/>
          </a:p>
        </p:txBody>
      </p:sp>
      <p:sp>
        <p:nvSpPr>
          <p:cNvPr id="51" name="Text 49"/>
          <p:cNvSpPr/>
          <p:nvPr/>
        </p:nvSpPr>
        <p:spPr>
          <a:xfrm>
            <a:off x="1066800" y="5400030"/>
            <a:ext cx="10168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3"/>
                </a:solidFill>
                <a:latin typeface="IBM Plex Sans" pitchFamily="34" charset="0"/>
                <a:ea typeface="IBM Plex Sans" pitchFamily="34" charset="-122"/>
                <a:cs typeface="IBM Plex Sans" pitchFamily="34" charset="-120"/>
              </a:rPr>
              <a:t>Foundations</a:t>
            </a:r>
            <a:endParaRPr lang="en-US" sz="1200" dirty="0"/>
          </a:p>
        </p:txBody>
      </p:sp>
      <p:sp>
        <p:nvSpPr>
          <p:cNvPr id="52" name="Shape 50"/>
          <p:cNvSpPr/>
          <p:nvPr/>
        </p:nvSpPr>
        <p:spPr>
          <a:xfrm>
            <a:off x="2218978" y="5443190"/>
            <a:ext cx="177800" cy="127000"/>
          </a:xfrm>
          <a:prstGeom prst="roundRect">
            <a:avLst>
              <a:gd name="adj" fmla="val 20000"/>
            </a:avLst>
          </a:prstGeom>
          <a:solidFill>
            <a:srgbClr val="C8661A"/>
          </a:solidFill>
          <a:ln/>
        </p:spPr>
        <p:txBody>
          <a:bodyPr/>
          <a:lstStyle/>
          <a:p>
            <a:endParaRPr lang="en-IT"/>
          </a:p>
        </p:txBody>
      </p:sp>
      <p:sp>
        <p:nvSpPr>
          <p:cNvPr id="53" name="Text 51"/>
          <p:cNvSpPr/>
          <p:nvPr/>
        </p:nvSpPr>
        <p:spPr>
          <a:xfrm>
            <a:off x="2472978" y="5400030"/>
            <a:ext cx="10086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3"/>
                </a:solidFill>
                <a:latin typeface="IBM Plex Sans" pitchFamily="34" charset="0"/>
                <a:ea typeface="IBM Plex Sans" pitchFamily="34" charset="-122"/>
                <a:cs typeface="IBM Plex Sans" pitchFamily="34" charset="-120"/>
              </a:rPr>
              <a:t>This module</a:t>
            </a:r>
            <a:endParaRPr lang="en-US" sz="1200" dirty="0"/>
          </a:p>
        </p:txBody>
      </p:sp>
      <p:sp>
        <p:nvSpPr>
          <p:cNvPr id="54" name="Shape 52"/>
          <p:cNvSpPr/>
          <p:nvPr/>
        </p:nvSpPr>
        <p:spPr>
          <a:xfrm>
            <a:off x="3618309" y="5443190"/>
            <a:ext cx="177800" cy="127000"/>
          </a:xfrm>
          <a:prstGeom prst="roundRect">
            <a:avLst>
              <a:gd name="adj" fmla="val 20000"/>
            </a:avLst>
          </a:prstGeom>
          <a:solidFill>
            <a:srgbClr val="2F5D8A"/>
          </a:solidFill>
          <a:ln/>
        </p:spPr>
        <p:txBody>
          <a:bodyPr/>
          <a:lstStyle/>
          <a:p>
            <a:endParaRPr lang="en-IT"/>
          </a:p>
        </p:txBody>
      </p:sp>
      <p:sp>
        <p:nvSpPr>
          <p:cNvPr id="55" name="Text 53"/>
          <p:cNvSpPr/>
          <p:nvPr/>
        </p:nvSpPr>
        <p:spPr>
          <a:xfrm>
            <a:off x="3872309" y="5400030"/>
            <a:ext cx="149363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3"/>
                </a:solidFill>
                <a:latin typeface="IBM Plex Sans" pitchFamily="34" charset="0"/>
                <a:ea typeface="IBM Plex Sans" pitchFamily="34" charset="-122"/>
                <a:cs typeface="IBM Plex Sans" pitchFamily="34" charset="-120"/>
              </a:rPr>
              <a:t>Software and data</a:t>
            </a:r>
            <a:endParaRPr lang="en-US" sz="1200" dirty="0"/>
          </a:p>
        </p:txBody>
      </p:sp>
      <p:sp>
        <p:nvSpPr>
          <p:cNvPr id="56" name="Shape 54"/>
          <p:cNvSpPr/>
          <p:nvPr/>
        </p:nvSpPr>
        <p:spPr>
          <a:xfrm>
            <a:off x="5421809" y="5443190"/>
            <a:ext cx="177800" cy="127000"/>
          </a:xfrm>
          <a:prstGeom prst="roundRect">
            <a:avLst>
              <a:gd name="adj" fmla="val 20000"/>
            </a:avLst>
          </a:prstGeom>
          <a:solidFill>
            <a:srgbClr val="172033"/>
          </a:solidFill>
          <a:ln/>
        </p:spPr>
        <p:txBody>
          <a:bodyPr/>
          <a:lstStyle/>
          <a:p>
            <a:endParaRPr lang="en-IT"/>
          </a:p>
        </p:txBody>
      </p:sp>
      <p:sp>
        <p:nvSpPr>
          <p:cNvPr id="57" name="Text 55"/>
          <p:cNvSpPr/>
          <p:nvPr/>
        </p:nvSpPr>
        <p:spPr>
          <a:xfrm>
            <a:off x="5675809" y="5400030"/>
            <a:ext cx="15444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3"/>
                </a:solidFill>
                <a:latin typeface="IBM Plex Sans" pitchFamily="34" charset="0"/>
                <a:ea typeface="IBM Plex Sans" pitchFamily="34" charset="-122"/>
                <a:cs typeface="IBM Plex Sans" pitchFamily="34" charset="-120"/>
              </a:rPr>
              <a:t>Learning from data</a:t>
            </a:r>
            <a:endParaRPr lang="en-US" sz="1200" dirty="0"/>
          </a:p>
        </p:txBody>
      </p:sp>
      <p:sp>
        <p:nvSpPr>
          <p:cNvPr id="58" name="Text 56"/>
          <p:cNvSpPr/>
          <p:nvPr/>
        </p:nvSpPr>
        <p:spPr>
          <a:xfrm>
            <a:off x="7267674" y="5400030"/>
            <a:ext cx="205835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3"/>
                </a:solidFill>
                <a:latin typeface="IBM Plex Sans" pitchFamily="34" charset="0"/>
                <a:ea typeface="IBM Plex Sans" pitchFamily="34" charset="-122"/>
                <a:cs typeface="IBM Plex Sans" pitchFamily="34" charset="-120"/>
              </a:rPr>
              <a:t>Bars mark teaching days.</a:t>
            </a:r>
            <a:endParaRPr lang="en-US" sz="1200" dirty="0"/>
          </a:p>
        </p:txBody>
      </p:sp>
      <p:sp>
        <p:nvSpPr>
          <p:cNvPr id="59" name="Text 57"/>
          <p:cNvSpPr/>
          <p:nvPr/>
        </p:nvSpPr>
        <p:spPr>
          <a:xfrm>
            <a:off x="812800" y="6243340"/>
            <a:ext cx="25237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Python I · MDMC 2026–27</a:t>
            </a:r>
            <a:endParaRPr lang="en-US" sz="1200" dirty="0"/>
          </a:p>
        </p:txBody>
      </p:sp>
      <p:sp>
        <p:nvSpPr>
          <p:cNvPr id="60" name="Text 58"/>
          <p:cNvSpPr/>
          <p:nvPr/>
        </p:nvSpPr>
        <p:spPr>
          <a:xfrm>
            <a:off x="10830560" y="6243340"/>
            <a:ext cx="5486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6170"/>
                </a:solidFill>
                <a:latin typeface="IBM Plex Mono" pitchFamily="49" charset="0"/>
                <a:ea typeface="IBM Plex Mono" pitchFamily="49" charset="-122"/>
                <a:cs typeface="IBM Plex Mono" pitchFamily="49" charset="-120"/>
              </a:rPr>
              <a:t>6 / 9</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What we cover, and what comes before and after</a:t>
            </a:r>
            <a:endParaRPr lang="en-US" sz="3200" dirty="0"/>
          </a:p>
        </p:txBody>
      </p:sp>
      <p:sp>
        <p:nvSpPr>
          <p:cNvPr id="3" name="Shape 1"/>
          <p:cNvSpPr/>
          <p:nvPr/>
        </p:nvSpPr>
        <p:spPr>
          <a:xfrm>
            <a:off x="812800" y="1513830"/>
            <a:ext cx="3302000" cy="4328170"/>
          </a:xfrm>
          <a:prstGeom prst="roundRect">
            <a:avLst>
              <a:gd name="adj" fmla="val 3077"/>
            </a:avLst>
          </a:prstGeom>
          <a:solidFill>
            <a:srgbClr val="ECE8DF"/>
          </a:solidFill>
          <a:ln/>
        </p:spPr>
        <p:txBody>
          <a:bodyPr/>
          <a:lstStyle/>
          <a:p>
            <a:endParaRPr lang="en-IT"/>
          </a:p>
        </p:txBody>
      </p:sp>
      <p:sp>
        <p:nvSpPr>
          <p:cNvPr id="4" name="Text 2"/>
          <p:cNvSpPr/>
          <p:nvPr/>
        </p:nvSpPr>
        <p:spPr>
          <a:xfrm>
            <a:off x="1041400" y="1742430"/>
            <a:ext cx="2930144"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A04E10"/>
                </a:solidFill>
                <a:latin typeface="IBM Plex Sans" pitchFamily="34" charset="0"/>
                <a:ea typeface="IBM Plex Sans" pitchFamily="34" charset="-122"/>
                <a:cs typeface="IBM Plex Sans" pitchFamily="34" charset="-120"/>
              </a:rPr>
              <a:t>This week</a:t>
            </a:r>
            <a:endParaRPr lang="en-US" sz="1800" dirty="0"/>
          </a:p>
        </p:txBody>
      </p:sp>
      <p:sp>
        <p:nvSpPr>
          <p:cNvPr id="5" name="Text 3"/>
          <p:cNvSpPr/>
          <p:nvPr/>
        </p:nvSpPr>
        <p:spPr>
          <a:xfrm>
            <a:off x="1119632" y="2143720"/>
            <a:ext cx="2844292" cy="2798961"/>
          </a:xfrm>
          <a:prstGeom prst="rect">
            <a:avLst/>
          </a:prstGeom>
          <a:noFill/>
          <a:ln/>
        </p:spPr>
        <p:txBody>
          <a:bodyPr wrap="square" lIns="0" tIns="0" rIns="0" bIns="0" rtlCol="0" anchor="t">
            <a:normAutofit/>
          </a:bodyPr>
          <a:lstStyle/>
          <a:p>
            <a:pPr marL="175768" indent="-175768" algn="l">
              <a:lnSpc>
                <a:spcPts val="1820"/>
              </a:lnSpc>
              <a:buSzPct val="100000"/>
              <a:buChar char="•"/>
            </a:pPr>
            <a:r>
              <a:rPr lang="en-US" sz="1400" dirty="0">
                <a:solidFill>
                  <a:srgbClr val="172033"/>
                </a:solidFill>
                <a:latin typeface="IBM Plex Sans" pitchFamily="34" charset="0"/>
                <a:ea typeface="IBM Plex Sans" pitchFamily="34" charset="-122"/>
                <a:cs typeface="IBM Plex Sans" pitchFamily="34" charset="-120"/>
              </a:rPr>
              <a:t>Python essentials and the scientific ecosystem</a:t>
            </a:r>
            <a:endParaRPr lang="en-US" sz="1400" dirty="0"/>
          </a:p>
          <a:p>
            <a:pPr marL="175768" indent="-175768" algn="l">
              <a:lnSpc>
                <a:spcPts val="1820"/>
              </a:lnSpc>
              <a:buSzPct val="100000"/>
              <a:buChar char="•"/>
            </a:pPr>
            <a:r>
              <a:rPr lang="en-US" sz="1400" dirty="0">
                <a:solidFill>
                  <a:srgbClr val="172033"/>
                </a:solidFill>
                <a:latin typeface="IBM Plex Sans" pitchFamily="34" charset="0"/>
                <a:ea typeface="IBM Plex Sans" pitchFamily="34" charset="-122"/>
                <a:cs typeface="IBM Plex Sans" pitchFamily="34" charset="-120"/>
              </a:rPr>
              <a:t>NumPy for numerical data</a:t>
            </a:r>
            <a:endParaRPr lang="en-US" sz="1400" dirty="0"/>
          </a:p>
          <a:p>
            <a:pPr marL="175768" indent="-175768" algn="l">
              <a:lnSpc>
                <a:spcPts val="1820"/>
              </a:lnSpc>
              <a:buSzPct val="100000"/>
              <a:buChar char="•"/>
            </a:pPr>
            <a:r>
              <a:rPr lang="en-US" sz="1400" dirty="0">
                <a:solidFill>
                  <a:srgbClr val="172033"/>
                </a:solidFill>
                <a:latin typeface="IBM Plex Sans" pitchFamily="34" charset="0"/>
                <a:ea typeface="IBM Plex Sans" pitchFamily="34" charset="-122"/>
                <a:cs typeface="IBM Plex Sans" pitchFamily="34" charset="-120"/>
              </a:rPr>
              <a:t>pandas for tabular data: load, clean, merge, aggregate</a:t>
            </a:r>
            <a:endParaRPr lang="en-US" sz="1400" dirty="0"/>
          </a:p>
          <a:p>
            <a:pPr marL="175768" indent="-175768" algn="l">
              <a:lnSpc>
                <a:spcPts val="1820"/>
              </a:lnSpc>
              <a:buSzPct val="100000"/>
              <a:buChar char="•"/>
            </a:pPr>
            <a:r>
              <a:rPr lang="en-US" sz="1400" dirty="0">
                <a:solidFill>
                  <a:srgbClr val="172033"/>
                </a:solidFill>
                <a:latin typeface="IBM Plex Sans" pitchFamily="34" charset="0"/>
                <a:ea typeface="IBM Plex Sans" pitchFamily="34" charset="-122"/>
                <a:cs typeface="IBM Plex Sans" pitchFamily="34" charset="-120"/>
              </a:rPr>
              <a:t>Files and sources: CSV, JSON, SQLite, a web data service</a:t>
            </a:r>
            <a:endParaRPr lang="en-US" sz="1400" dirty="0"/>
          </a:p>
          <a:p>
            <a:pPr marL="175768" indent="-175768" algn="l">
              <a:lnSpc>
                <a:spcPts val="1820"/>
              </a:lnSpc>
              <a:buSzPct val="100000"/>
              <a:buChar char="•"/>
            </a:pPr>
            <a:r>
              <a:rPr lang="en-US" sz="1400" dirty="0">
                <a:solidFill>
                  <a:srgbClr val="172033"/>
                </a:solidFill>
                <a:latin typeface="IBM Plex Sans" pitchFamily="34" charset="0"/>
                <a:ea typeface="IBM Plex Sans" pitchFamily="34" charset="-122"/>
                <a:cs typeface="IBM Plex Sans" pitchFamily="34" charset="-120"/>
              </a:rPr>
              <a:t>Plots with Matplotlib and Seaborn</a:t>
            </a:r>
            <a:endParaRPr lang="en-US" sz="1400" dirty="0"/>
          </a:p>
          <a:p>
            <a:pPr marL="175768" indent="-175768" algn="l">
              <a:lnSpc>
                <a:spcPts val="1820"/>
              </a:lnSpc>
              <a:buSzPct val="100000"/>
              <a:buChar char="•"/>
            </a:pPr>
            <a:r>
              <a:rPr lang="en-US" sz="1400" dirty="0">
                <a:solidFill>
                  <a:srgbClr val="172033"/>
                </a:solidFill>
                <a:latin typeface="IBM Plex Sans" pitchFamily="34" charset="0"/>
                <a:ea typeface="IBM Plex Sans" pitchFamily="34" charset="-122"/>
                <a:cs typeface="IBM Plex Sans" pitchFamily="34" charset="-120"/>
              </a:rPr>
              <a:t>PyTorch: tensors, autograd, training loops, a first neural network</a:t>
            </a:r>
            <a:endParaRPr lang="en-US" sz="1400" dirty="0"/>
          </a:p>
        </p:txBody>
      </p:sp>
      <p:sp>
        <p:nvSpPr>
          <p:cNvPr id="6" name="Text 4"/>
          <p:cNvSpPr/>
          <p:nvPr/>
        </p:nvSpPr>
        <p:spPr>
          <a:xfrm>
            <a:off x="4521200" y="1513830"/>
            <a:ext cx="706374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033"/>
                </a:solidFill>
                <a:latin typeface="IBM Plex Sans" pitchFamily="34" charset="0"/>
                <a:ea typeface="IBM Plex Sans" pitchFamily="34" charset="-122"/>
                <a:cs typeface="IBM Plex Sans" pitchFamily="34" charset="-120"/>
              </a:rPr>
              <a:t>Before</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33900" y="1902420"/>
          <a:ext cx="6845300" cy="665360"/>
        </p:xfrm>
        <a:graphic>
          <a:graphicData uri="http://schemas.openxmlformats.org/drawingml/2006/table">
            <a:tbl>
              <a:tblPr/>
              <a:tblGrid>
                <a:gridCol w="3833368">
                  <a:extLst>
                    <a:ext uri="{9D8B030D-6E8A-4147-A177-3AD203B41FA5}">
                      <a16:colId xmlns:a16="http://schemas.microsoft.com/office/drawing/2014/main" val="20000"/>
                    </a:ext>
                  </a:extLst>
                </a:gridCol>
                <a:gridCol w="3011932">
                  <a:extLst>
                    <a:ext uri="{9D8B030D-6E8A-4147-A177-3AD203B41FA5}">
                      <a16:colId xmlns:a16="http://schemas.microsoft.com/office/drawing/2014/main" val="20001"/>
                    </a:ext>
                  </a:extLst>
                </a:gridCol>
              </a:tblGrid>
              <a:tr h="332680">
                <a:tc>
                  <a:txBody>
                    <a:bodyPr/>
                    <a:lstStyle/>
                    <a:p>
                      <a:pPr marL="0" indent="0">
                        <a:lnSpc>
                          <a:spcPts val="1680"/>
                        </a:lnSpc>
                        <a:buNone/>
                      </a:pPr>
                      <a:r>
                        <a:rPr lang="en-US" sz="1200" dirty="0">
                          <a:solidFill>
                            <a:srgbClr val="4A5263"/>
                          </a:solidFill>
                          <a:latin typeface="IBM Plex Sans" pitchFamily="34" charset="0"/>
                          <a:ea typeface="IBM Plex Sans" pitchFamily="34" charset="-122"/>
                          <a:cs typeface="IBM Plex Sans" pitchFamily="34" charset="-120"/>
                        </a:rPr>
                        <a:t>Unix shell and scripting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IBM Plex Sans" pitchFamily="34" charset="0"/>
                          <a:ea typeface="IBM Plex Sans" pitchFamily="34" charset="-122"/>
                          <a:cs typeface="IBM Plex Sans" pitchFamily="34" charset="-120"/>
                        </a:rPr>
                        <a:t>Scientific Programming Environment</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4A5263"/>
                          </a:solidFill>
                          <a:latin typeface="IBM Plex Sans" pitchFamily="34" charset="0"/>
                          <a:ea typeface="IBM Plex Sans" pitchFamily="34" charset="-122"/>
                          <a:cs typeface="IBM Plex Sans" pitchFamily="34" charset="-120"/>
                        </a:rPr>
                        <a:t>Git, documentation, FAIR software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IBM Plex Sans" pitchFamily="34" charset="0"/>
                          <a:ea typeface="IBM Plex Sans" pitchFamily="34" charset="-122"/>
                          <a:cs typeface="IBM Plex Sans" pitchFamily="34" charset="-120"/>
                        </a:rPr>
                        <a:t>Scientific Programming Methods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8" name="Text 5"/>
          <p:cNvSpPr/>
          <p:nvPr/>
        </p:nvSpPr>
        <p:spPr>
          <a:xfrm>
            <a:off x="4521200" y="2669381"/>
            <a:ext cx="706374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033"/>
                </a:solidFill>
                <a:latin typeface="IBM Plex Sans" pitchFamily="34" charset="0"/>
                <a:ea typeface="IBM Plex Sans" pitchFamily="34" charset="-122"/>
                <a:cs typeface="IBM Plex Sans" pitchFamily="34" charset="-120"/>
              </a:rPr>
              <a:t>After</a:t>
            </a:r>
            <a:endParaRPr lang="en-US" sz="18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533900" y="3057971"/>
          <a:ext cx="6845300" cy="2328760"/>
        </p:xfrm>
        <a:graphic>
          <a:graphicData uri="http://schemas.openxmlformats.org/drawingml/2006/table">
            <a:tbl>
              <a:tblPr/>
              <a:tblGrid>
                <a:gridCol w="3833368">
                  <a:extLst>
                    <a:ext uri="{9D8B030D-6E8A-4147-A177-3AD203B41FA5}">
                      <a16:colId xmlns:a16="http://schemas.microsoft.com/office/drawing/2014/main" val="20000"/>
                    </a:ext>
                  </a:extLst>
                </a:gridCol>
                <a:gridCol w="3011932">
                  <a:extLst>
                    <a:ext uri="{9D8B030D-6E8A-4147-A177-3AD203B41FA5}">
                      <a16:colId xmlns:a16="http://schemas.microsoft.com/office/drawing/2014/main" val="20001"/>
                    </a:ext>
                  </a:extLst>
                </a:gridCol>
              </a:tblGrid>
              <a:tr h="332680">
                <a:tc>
                  <a:txBody>
                    <a:bodyPr/>
                    <a:lstStyle/>
                    <a:p>
                      <a:pPr marL="0" indent="0">
                        <a:lnSpc>
                          <a:spcPts val="1680"/>
                        </a:lnSpc>
                        <a:buNone/>
                      </a:pPr>
                      <a:r>
                        <a:rPr lang="en-US" sz="1200" dirty="0">
                          <a:solidFill>
                            <a:srgbClr val="4A5263"/>
                          </a:solidFill>
                          <a:latin typeface="IBM Plex Sans" pitchFamily="34" charset="0"/>
                          <a:ea typeface="IBM Plex Sans" pitchFamily="34" charset="-122"/>
                          <a:cs typeface="IBM Plex Sans" pitchFamily="34" charset="-120"/>
                        </a:rPr>
                        <a:t>Classes, tests, packaging, REST APIs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IBM Plex Sans" pitchFamily="34" charset="0"/>
                          <a:ea typeface="IBM Plex Sans" pitchFamily="34" charset="-122"/>
                          <a:cs typeface="IBM Plex Sans" pitchFamily="34" charset="-120"/>
                        </a:rPr>
                        <a:t>Python II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4A5263"/>
                          </a:solidFill>
                          <a:latin typeface="IBM Plex Sans" pitchFamily="34" charset="0"/>
                          <a:ea typeface="IBM Plex Sans" pitchFamily="34" charset="-122"/>
                          <a:cs typeface="IBM Plex Sans" pitchFamily="34" charset="-120"/>
                        </a:rPr>
                        <a:t>Databases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IBM Plex Sans" pitchFamily="34" charset="0"/>
                          <a:ea typeface="IBM Plex Sans" pitchFamily="34" charset="-122"/>
                          <a:cs typeface="IBM Plex Sans" pitchFamily="34" charset="-120"/>
                        </a:rPr>
                        <a:t>Introduction to DataBase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4A5263"/>
                          </a:solidFill>
                          <a:latin typeface="IBM Plex Sans" pitchFamily="34" charset="0"/>
                          <a:ea typeface="IBM Plex Sans" pitchFamily="34" charset="-122"/>
                          <a:cs typeface="IBM Plex Sans" pitchFamily="34" charset="-120"/>
                        </a:rPr>
                        <a:t>Pipelines, GitHub, web back ends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IBM Plex Sans" pitchFamily="34" charset="0"/>
                          <a:ea typeface="IBM Plex Sans" pitchFamily="34" charset="-122"/>
                          <a:cs typeface="IBM Plex Sans" pitchFamily="34" charset="-120"/>
                        </a:rPr>
                        <a:t>Python for Data Management 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2"/>
                  </a:ext>
                </a:extLst>
              </a:tr>
              <a:tr h="332680">
                <a:tc>
                  <a:txBody>
                    <a:bodyPr/>
                    <a:lstStyle/>
                    <a:p>
                      <a:pPr marL="0" indent="0">
                        <a:lnSpc>
                          <a:spcPts val="1680"/>
                        </a:lnSpc>
                        <a:buNone/>
                      </a:pPr>
                      <a:r>
                        <a:rPr lang="en-US" sz="1200" dirty="0">
                          <a:solidFill>
                            <a:srgbClr val="4A5263"/>
                          </a:solidFill>
                          <a:latin typeface="IBM Plex Sans" pitchFamily="34" charset="0"/>
                          <a:ea typeface="IBM Plex Sans" pitchFamily="34" charset="-122"/>
                          <a:cs typeface="IBM Plex Sans" pitchFamily="34" charset="-120"/>
                        </a:rPr>
                        <a:t>Vector search, RAG, model serving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IBM Plex Sans" pitchFamily="34" charset="0"/>
                          <a:ea typeface="IBM Plex Sans" pitchFamily="34" charset="-122"/>
                          <a:cs typeface="IBM Plex Sans" pitchFamily="34" charset="-120"/>
                        </a:rPr>
                        <a:t>Python for Data Management II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3"/>
                  </a:ext>
                </a:extLst>
              </a:tr>
              <a:tr h="332680">
                <a:tc>
                  <a:txBody>
                    <a:bodyPr/>
                    <a:lstStyle/>
                    <a:p>
                      <a:pPr marL="0" indent="0">
                        <a:lnSpc>
                          <a:spcPts val="1680"/>
                        </a:lnSpc>
                        <a:buNone/>
                      </a:pPr>
                      <a:r>
                        <a:rPr lang="en-US" sz="1200" dirty="0">
                          <a:solidFill>
                            <a:srgbClr val="4A5263"/>
                          </a:solidFill>
                          <a:latin typeface="IBM Plex Sans" pitchFamily="34" charset="0"/>
                          <a:ea typeface="IBM Plex Sans" pitchFamily="34" charset="-122"/>
                          <a:cs typeface="IBM Plex Sans" pitchFamily="34" charset="-120"/>
                        </a:rPr>
                        <a:t>Machine learning methods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IBM Plex Sans" pitchFamily="34" charset="0"/>
                          <a:ea typeface="IBM Plex Sans" pitchFamily="34" charset="-122"/>
                          <a:cs typeface="IBM Plex Sans" pitchFamily="34" charset="-120"/>
                        </a:rPr>
                        <a:t>Introduction to ML</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4"/>
                  </a:ext>
                </a:extLst>
              </a:tr>
              <a:tr h="332680">
                <a:tc>
                  <a:txBody>
                    <a:bodyPr/>
                    <a:lstStyle/>
                    <a:p>
                      <a:pPr marL="0" indent="0">
                        <a:lnSpc>
                          <a:spcPts val="1680"/>
                        </a:lnSpc>
                        <a:buNone/>
                      </a:pPr>
                      <a:r>
                        <a:rPr lang="en-US" sz="1200" dirty="0">
                          <a:solidFill>
                            <a:srgbClr val="4A5263"/>
                          </a:solidFill>
                          <a:latin typeface="IBM Plex Sans" pitchFamily="34" charset="0"/>
                          <a:ea typeface="IBM Plex Sans" pitchFamily="34" charset="-122"/>
                          <a:cs typeface="IBM Plex Sans" pitchFamily="34" charset="-120"/>
                        </a:rPr>
                        <a:t>Architectures, training, diagnostics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IBM Plex Sans" pitchFamily="34" charset="0"/>
                          <a:ea typeface="IBM Plex Sans" pitchFamily="34" charset="-122"/>
                          <a:cs typeface="IBM Plex Sans" pitchFamily="34" charset="-120"/>
                        </a:rPr>
                        <a:t>Introduction to Deep Learning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5"/>
                  </a:ext>
                </a:extLst>
              </a:tr>
              <a:tr h="332680">
                <a:tc>
                  <a:txBody>
                    <a:bodyPr/>
                    <a:lstStyle/>
                    <a:p>
                      <a:pPr marL="0" indent="0">
                        <a:lnSpc>
                          <a:spcPts val="1680"/>
                        </a:lnSpc>
                        <a:buNone/>
                      </a:pPr>
                      <a:r>
                        <a:rPr lang="en-US" sz="1200" dirty="0">
                          <a:solidFill>
                            <a:srgbClr val="4A5263"/>
                          </a:solidFill>
                          <a:latin typeface="IBM Plex Sans" pitchFamily="34" charset="0"/>
                          <a:ea typeface="IBM Plex Sans" pitchFamily="34" charset="-122"/>
                          <a:cs typeface="IBM Plex Sans" pitchFamily="34" charset="-120"/>
                        </a:rPr>
                        <a:t>Curation projects, AI-assisted coding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marL="0" indent="0">
                        <a:lnSpc>
                          <a:spcPts val="1680"/>
                        </a:lnSpc>
                        <a:buNone/>
                      </a:pPr>
                      <a:r>
                        <a:rPr lang="en-US" sz="1200" dirty="0">
                          <a:solidFill>
                            <a:srgbClr val="172033"/>
                          </a:solidFill>
                          <a:latin typeface="IBM Plex Sans" pitchFamily="34" charset="0"/>
                          <a:ea typeface="IBM Plex Sans" pitchFamily="34" charset="-122"/>
                          <a:cs typeface="IBM Plex Sans" pitchFamily="34" charset="-120"/>
                        </a:rPr>
                        <a:t>Applied AI</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 6"/>
          <p:cNvSpPr/>
          <p:nvPr/>
        </p:nvSpPr>
        <p:spPr>
          <a:xfrm>
            <a:off x="812800" y="6243340"/>
            <a:ext cx="25237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Python I · MDMC 2026–27</a:t>
            </a:r>
            <a:endParaRPr lang="en-US" sz="1200" dirty="0"/>
          </a:p>
        </p:txBody>
      </p:sp>
      <p:sp>
        <p:nvSpPr>
          <p:cNvPr id="11" name="Text 7"/>
          <p:cNvSpPr/>
          <p:nvPr/>
        </p:nvSpPr>
        <p:spPr>
          <a:xfrm>
            <a:off x="10830560" y="6243340"/>
            <a:ext cx="5486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6170"/>
                </a:solidFill>
                <a:latin typeface="IBM Plex Mono" pitchFamily="49" charset="0"/>
                <a:ea typeface="IBM Plex Mono" pitchFamily="49" charset="-122"/>
                <a:cs typeface="IBM Plex Mono" pitchFamily="49" charset="-120"/>
              </a:rPr>
              <a:t>7 /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E8D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340469"/>
          </a:xfrm>
          <a:prstGeom prst="rect">
            <a:avLst/>
          </a:prstGeom>
          <a:noFill/>
          <a:ln/>
        </p:spPr>
        <p:txBody>
          <a:bodyPr wrap="square" lIns="0" tIns="0" rIns="0" bIns="0" rtlCol="0" anchor="t">
            <a:normAutofit/>
          </a:bodyPr>
          <a:lstStyle/>
          <a:p>
            <a:pPr marL="0" indent="0" algn="l">
              <a:lnSpc>
                <a:spcPts val="2519"/>
              </a:lnSpc>
              <a:buNone/>
            </a:pPr>
            <a:r>
              <a:rPr lang="en-US" sz="2290" b="1" i="0" dirty="0">
                <a:solidFill>
                  <a:srgbClr val="172033"/>
                </a:solidFill>
                <a:latin typeface="IBM Plex Sans" pitchFamily="34" charset="0"/>
                <a:ea typeface="IBM Plex Sans" pitchFamily="34" charset="-122"/>
                <a:cs typeface="IBM Plex Sans" pitchFamily="34" charset="-120"/>
              </a:rPr>
              <a:t>Schedule: four days, nine blocks of two hours</a:t>
            </a:r>
            <a:endParaRPr lang="en-US" sz="2290" dirty="0"/>
          </a:p>
        </p:txBody>
      </p:sp>
      <p:sp>
        <p:nvSpPr>
          <p:cNvPr id="3" name="Text 1"/>
          <p:cNvSpPr/>
          <p:nvPr/>
        </p:nvSpPr>
        <p:spPr>
          <a:xfrm>
            <a:off x="805429" y="1399084"/>
            <a:ext cx="9525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Tue 13 Oct</a:t>
            </a:r>
            <a:endParaRPr lang="en-US" sz="1400" dirty="0"/>
          </a:p>
        </p:txBody>
      </p:sp>
      <p:sp>
        <p:nvSpPr>
          <p:cNvPr id="4" name="Text 2"/>
          <p:cNvSpPr/>
          <p:nvPr/>
        </p:nvSpPr>
        <p:spPr>
          <a:xfrm>
            <a:off x="800278" y="1699295"/>
            <a:ext cx="952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Room 003</a:t>
            </a:r>
            <a:endParaRPr lang="en-US" sz="1200" dirty="0"/>
          </a:p>
        </p:txBody>
      </p:sp>
      <p:sp>
        <p:nvSpPr>
          <p:cNvPr id="5" name="Text 3"/>
          <p:cNvSpPr/>
          <p:nvPr/>
        </p:nvSpPr>
        <p:spPr>
          <a:xfrm>
            <a:off x="2966413" y="1376263"/>
            <a:ext cx="2331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Wed 14 Oct</a:t>
            </a:r>
            <a:endParaRPr lang="en-US" sz="1400" dirty="0"/>
          </a:p>
        </p:txBody>
      </p:sp>
      <p:sp>
        <p:nvSpPr>
          <p:cNvPr id="6" name="Text 4"/>
          <p:cNvSpPr/>
          <p:nvPr/>
        </p:nvSpPr>
        <p:spPr>
          <a:xfrm>
            <a:off x="2980648" y="1661903"/>
            <a:ext cx="23316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Room 005</a:t>
            </a:r>
            <a:endParaRPr lang="en-US" sz="1200" dirty="0"/>
          </a:p>
        </p:txBody>
      </p:sp>
      <p:sp>
        <p:nvSpPr>
          <p:cNvPr id="7" name="Text 5"/>
          <p:cNvSpPr/>
          <p:nvPr/>
        </p:nvSpPr>
        <p:spPr>
          <a:xfrm>
            <a:off x="5154505" y="1363563"/>
            <a:ext cx="2331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Thu 15 Oct</a:t>
            </a:r>
            <a:endParaRPr lang="en-US" sz="1400" dirty="0"/>
          </a:p>
        </p:txBody>
      </p:sp>
      <p:sp>
        <p:nvSpPr>
          <p:cNvPr id="8" name="Text 6"/>
          <p:cNvSpPr/>
          <p:nvPr/>
        </p:nvSpPr>
        <p:spPr>
          <a:xfrm>
            <a:off x="5182740" y="1663676"/>
            <a:ext cx="23316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Room 003</a:t>
            </a:r>
            <a:endParaRPr lang="en-US" sz="1200" dirty="0"/>
          </a:p>
        </p:txBody>
      </p:sp>
      <p:sp>
        <p:nvSpPr>
          <p:cNvPr id="9" name="Text 7"/>
          <p:cNvSpPr/>
          <p:nvPr/>
        </p:nvSpPr>
        <p:spPr>
          <a:xfrm>
            <a:off x="7336384" y="1376263"/>
            <a:ext cx="2331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Fri 16 Oct</a:t>
            </a:r>
            <a:endParaRPr lang="en-US" sz="1400" dirty="0"/>
          </a:p>
        </p:txBody>
      </p:sp>
      <p:sp>
        <p:nvSpPr>
          <p:cNvPr id="10" name="Text 8"/>
          <p:cNvSpPr/>
          <p:nvPr/>
        </p:nvSpPr>
        <p:spPr>
          <a:xfrm>
            <a:off x="7343724" y="1661207"/>
            <a:ext cx="233168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Room 005</a:t>
            </a:r>
            <a:endParaRPr lang="en-US" sz="1200" dirty="0"/>
          </a:p>
        </p:txBody>
      </p:sp>
      <p:sp>
        <p:nvSpPr>
          <p:cNvPr id="11" name="Text 9"/>
          <p:cNvSpPr/>
          <p:nvPr/>
        </p:nvSpPr>
        <p:spPr>
          <a:xfrm>
            <a:off x="9638554" y="2633204"/>
            <a:ext cx="23840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IBM Plex Mono" pitchFamily="49" charset="0"/>
                <a:ea typeface="IBM Plex Mono" pitchFamily="49" charset="-122"/>
                <a:cs typeface="IBM Plex Mono" pitchFamily="49" charset="-120"/>
              </a:rPr>
              <a:t>09:00 – 11:00</a:t>
            </a:r>
            <a:endParaRPr lang="en-US" sz="1200" dirty="0"/>
          </a:p>
        </p:txBody>
      </p:sp>
      <p:sp>
        <p:nvSpPr>
          <p:cNvPr id="13" name="Shape 11"/>
          <p:cNvSpPr/>
          <p:nvPr/>
        </p:nvSpPr>
        <p:spPr>
          <a:xfrm>
            <a:off x="815917" y="2056551"/>
            <a:ext cx="2082021" cy="1103858"/>
          </a:xfrm>
          <a:prstGeom prst="roundRect">
            <a:avLst>
              <a:gd name="adj" fmla="val 8000"/>
            </a:avLst>
          </a:prstGeom>
          <a:solidFill>
            <a:srgbClr val="F6F4EE"/>
          </a:solidFill>
          <a:ln/>
        </p:spPr>
        <p:txBody>
          <a:bodyPr/>
          <a:lstStyle/>
          <a:p>
            <a:endParaRPr lang="en-IT"/>
          </a:p>
        </p:txBody>
      </p:sp>
      <p:sp>
        <p:nvSpPr>
          <p:cNvPr id="14" name="Shape 12"/>
          <p:cNvSpPr/>
          <p:nvPr/>
        </p:nvSpPr>
        <p:spPr>
          <a:xfrm>
            <a:off x="800278" y="2044204"/>
            <a:ext cx="2082021" cy="1103858"/>
          </a:xfrm>
          <a:custGeom>
            <a:avLst/>
            <a:gdLst/>
            <a:ahLst/>
            <a:cxnLst/>
            <a:rect l="l" t="t" r="r" b="b"/>
            <a:pathLst>
              <a:path w="952500" h="1103858">
                <a:moveTo>
                  <a:pt x="0" y="76200"/>
                </a:moveTo>
                <a:lnTo>
                  <a:pt x="0" y="76200"/>
                </a:lnTo>
                <a:arcTo wR="76200" hR="76200" stAng="10800000" swAng="5400000"/>
                <a:lnTo>
                  <a:pt x="876300" y="0"/>
                </a:lnTo>
                <a:arcTo wR="76200" hR="76200" stAng="16200000" swAng="5400000"/>
                <a:lnTo>
                  <a:pt x="952500" y="76200"/>
                </a:lnTo>
                <a:arcTo wR="76200" hR="38100" stAng="0" swAng="-5400000"/>
                <a:lnTo>
                  <a:pt x="76200" y="38100"/>
                </a:lnTo>
                <a:arcTo wR="76200" hR="38100" stAng="16200000" swAng="-5400000"/>
                <a:close/>
              </a:path>
            </a:pathLst>
          </a:custGeom>
          <a:solidFill>
            <a:srgbClr val="A04E10"/>
          </a:solidFill>
          <a:ln/>
        </p:spPr>
        <p:txBody>
          <a:bodyPr/>
          <a:lstStyle/>
          <a:p>
            <a:endParaRPr lang="en-IT"/>
          </a:p>
        </p:txBody>
      </p:sp>
      <p:sp>
        <p:nvSpPr>
          <p:cNvPr id="15" name="Text 13"/>
          <p:cNvSpPr/>
          <p:nvPr/>
        </p:nvSpPr>
        <p:spPr>
          <a:xfrm>
            <a:off x="898686" y="2209304"/>
            <a:ext cx="1882763" cy="522436"/>
          </a:xfrm>
          <a:prstGeom prst="rect">
            <a:avLst/>
          </a:prstGeom>
          <a:noFill/>
          <a:ln/>
        </p:spPr>
        <p:txBody>
          <a:bodyPr wrap="square" lIns="0" tIns="0" rIns="0" bIns="0" rtlCol="0" anchor="t">
            <a:noAutofit/>
          </a:bodyPr>
          <a:lstStyle/>
          <a:p>
            <a:pPr marL="0" indent="0" algn="l">
              <a:lnSpc>
                <a:spcPts val="1066"/>
              </a:lnSpc>
              <a:buNone/>
            </a:pPr>
            <a:r>
              <a:rPr lang="en-US" sz="1400" dirty="0">
                <a:solidFill>
                  <a:srgbClr val="172033"/>
                </a:solidFill>
                <a:latin typeface="IBM Plex Sans" pitchFamily="34" charset="0"/>
                <a:ea typeface="IBM Plex Sans" pitchFamily="34" charset="-122"/>
                <a:cs typeface="IBM Plex Sans" pitchFamily="34" charset="-120"/>
              </a:rPr>
              <a:t>Setup, Python warm-up, files</a:t>
            </a:r>
            <a:endParaRPr lang="en-US" sz="1400" dirty="0"/>
          </a:p>
        </p:txBody>
      </p:sp>
      <p:sp>
        <p:nvSpPr>
          <p:cNvPr id="16" name="Text 14"/>
          <p:cNvSpPr/>
          <p:nvPr/>
        </p:nvSpPr>
        <p:spPr>
          <a:xfrm>
            <a:off x="939049" y="2744087"/>
            <a:ext cx="1113309" cy="238902"/>
          </a:xfrm>
          <a:prstGeom prst="rect">
            <a:avLst/>
          </a:prstGeom>
          <a:noFill/>
          <a:ln/>
        </p:spPr>
        <p:txBody>
          <a:bodyPr wrap="square" lIns="0" tIns="0" rIns="0" bIns="0" rtlCol="0" anchor="t">
            <a:noAutofit/>
          </a:bodyPr>
          <a:lstStyle/>
          <a:p>
            <a:pPr marL="0" indent="0" algn="l">
              <a:lnSpc>
                <a:spcPts val="1165"/>
              </a:lnSpc>
              <a:buNone/>
            </a:pPr>
            <a:r>
              <a:rPr lang="en-US" sz="1200" dirty="0">
                <a:solidFill>
                  <a:srgbClr val="596170"/>
                </a:solidFill>
                <a:latin typeface="IBM Plex Mono" pitchFamily="49" charset="0"/>
                <a:ea typeface="IBM Plex Mono" pitchFamily="49" charset="-122"/>
                <a:cs typeface="IBM Plex Mono" pitchFamily="49" charset="-120"/>
              </a:rPr>
              <a:t>notebook 01</a:t>
            </a:r>
            <a:endParaRPr lang="en-US" sz="1200" dirty="0"/>
          </a:p>
        </p:txBody>
      </p:sp>
      <p:sp>
        <p:nvSpPr>
          <p:cNvPr id="17" name="Shape 15"/>
          <p:cNvSpPr/>
          <p:nvPr/>
        </p:nvSpPr>
        <p:spPr>
          <a:xfrm>
            <a:off x="2972821" y="2044204"/>
            <a:ext cx="2082021" cy="1103858"/>
          </a:xfrm>
          <a:prstGeom prst="roundRect">
            <a:avLst>
              <a:gd name="adj" fmla="val 6903"/>
            </a:avLst>
          </a:prstGeom>
          <a:solidFill>
            <a:srgbClr val="F6F4EE"/>
          </a:solidFill>
          <a:ln/>
        </p:spPr>
        <p:txBody>
          <a:bodyPr/>
          <a:lstStyle/>
          <a:p>
            <a:endParaRPr lang="en-IT"/>
          </a:p>
        </p:txBody>
      </p:sp>
      <p:sp>
        <p:nvSpPr>
          <p:cNvPr id="18" name="Shape 16"/>
          <p:cNvSpPr/>
          <p:nvPr/>
        </p:nvSpPr>
        <p:spPr>
          <a:xfrm>
            <a:off x="2972821" y="2044204"/>
            <a:ext cx="2082021" cy="1103858"/>
          </a:xfrm>
          <a:custGeom>
            <a:avLst/>
            <a:gdLst/>
            <a:ahLst/>
            <a:cxnLst/>
            <a:rect l="l" t="t" r="r" b="b"/>
            <a:pathLst>
              <a:path w="2314575" h="1103858">
                <a:moveTo>
                  <a:pt x="0" y="76200"/>
                </a:moveTo>
                <a:lnTo>
                  <a:pt x="0" y="76200"/>
                </a:lnTo>
                <a:arcTo wR="76200" hR="76200" stAng="10800000" swAng="5400000"/>
                <a:lnTo>
                  <a:pt x="2238375" y="0"/>
                </a:lnTo>
                <a:arcTo wR="76200" hR="76200" stAng="16200000" swAng="5400000"/>
                <a:lnTo>
                  <a:pt x="2314575" y="76200"/>
                </a:lnTo>
                <a:arcTo wR="76200" hR="38100" stAng="0" swAng="-5400000"/>
                <a:lnTo>
                  <a:pt x="76200" y="38100"/>
                </a:lnTo>
                <a:arcTo wR="76200" hR="38100" stAng="16200000" swAng="-5400000"/>
                <a:close/>
              </a:path>
            </a:pathLst>
          </a:custGeom>
          <a:solidFill>
            <a:srgbClr val="A04E10"/>
          </a:solidFill>
          <a:ln/>
        </p:spPr>
        <p:txBody>
          <a:bodyPr/>
          <a:lstStyle/>
          <a:p>
            <a:endParaRPr lang="en-IT"/>
          </a:p>
        </p:txBody>
      </p:sp>
      <p:sp>
        <p:nvSpPr>
          <p:cNvPr id="19" name="Text 17"/>
          <p:cNvSpPr/>
          <p:nvPr/>
        </p:nvSpPr>
        <p:spPr>
          <a:xfrm>
            <a:off x="3086699" y="2209304"/>
            <a:ext cx="1902959"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172033"/>
                </a:solidFill>
                <a:latin typeface="IBM Plex Sans" pitchFamily="34" charset="0"/>
                <a:ea typeface="IBM Plex Sans" pitchFamily="34" charset="-122"/>
                <a:cs typeface="IBM Plex Sans" pitchFamily="34" charset="-120"/>
              </a:rPr>
              <a:t>pandas: loading and cleaning data</a:t>
            </a:r>
            <a:endParaRPr lang="en-US" sz="1400" dirty="0"/>
          </a:p>
        </p:txBody>
      </p:sp>
      <p:sp>
        <p:nvSpPr>
          <p:cNvPr id="20" name="Text 18"/>
          <p:cNvSpPr/>
          <p:nvPr/>
        </p:nvSpPr>
        <p:spPr>
          <a:xfrm>
            <a:off x="3071061" y="2730004"/>
            <a:ext cx="2122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notebook 02</a:t>
            </a:r>
            <a:endParaRPr lang="en-US" sz="1200" dirty="0"/>
          </a:p>
        </p:txBody>
      </p:sp>
      <p:sp>
        <p:nvSpPr>
          <p:cNvPr id="21" name="Shape 19"/>
          <p:cNvSpPr/>
          <p:nvPr/>
        </p:nvSpPr>
        <p:spPr>
          <a:xfrm>
            <a:off x="5154505" y="3255271"/>
            <a:ext cx="2108892" cy="1103858"/>
          </a:xfrm>
          <a:prstGeom prst="roundRect">
            <a:avLst>
              <a:gd name="adj" fmla="val 6903"/>
            </a:avLst>
          </a:prstGeom>
          <a:solidFill>
            <a:srgbClr val="F6F4EE"/>
          </a:solidFill>
          <a:ln/>
        </p:spPr>
        <p:txBody>
          <a:bodyPr/>
          <a:lstStyle/>
          <a:p>
            <a:endParaRPr lang="en-IT"/>
          </a:p>
        </p:txBody>
      </p:sp>
      <p:sp>
        <p:nvSpPr>
          <p:cNvPr id="22" name="Shape 20"/>
          <p:cNvSpPr/>
          <p:nvPr/>
        </p:nvSpPr>
        <p:spPr>
          <a:xfrm>
            <a:off x="5154505" y="3236962"/>
            <a:ext cx="2082020" cy="1103858"/>
          </a:xfrm>
          <a:custGeom>
            <a:avLst/>
            <a:gdLst/>
            <a:ahLst/>
            <a:cxnLst/>
            <a:rect l="l" t="t" r="r" b="b"/>
            <a:pathLst>
              <a:path w="2314575" h="1103858">
                <a:moveTo>
                  <a:pt x="0" y="76200"/>
                </a:moveTo>
                <a:lnTo>
                  <a:pt x="0" y="76200"/>
                </a:lnTo>
                <a:arcTo wR="76200" hR="76200" stAng="10800000" swAng="5400000"/>
                <a:lnTo>
                  <a:pt x="2238375" y="0"/>
                </a:lnTo>
                <a:arcTo wR="76200" hR="76200" stAng="16200000" swAng="5400000"/>
                <a:lnTo>
                  <a:pt x="2314575" y="76200"/>
                </a:lnTo>
                <a:arcTo wR="76200" hR="38100" stAng="0" swAng="-5400000"/>
                <a:lnTo>
                  <a:pt x="76200" y="38100"/>
                </a:lnTo>
                <a:arcTo wR="76200" hR="38100" stAng="16200000" swAng="-5400000"/>
                <a:close/>
              </a:path>
            </a:pathLst>
          </a:custGeom>
          <a:solidFill>
            <a:srgbClr val="2F5D8A"/>
          </a:solidFill>
          <a:ln/>
        </p:spPr>
        <p:txBody>
          <a:bodyPr/>
          <a:lstStyle/>
          <a:p>
            <a:endParaRPr lang="en-IT"/>
          </a:p>
        </p:txBody>
      </p:sp>
      <p:sp>
        <p:nvSpPr>
          <p:cNvPr id="23" name="Text 21"/>
          <p:cNvSpPr/>
          <p:nvPr/>
        </p:nvSpPr>
        <p:spPr>
          <a:xfrm>
            <a:off x="5288258" y="3420371"/>
            <a:ext cx="1859365"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172033"/>
                </a:solidFill>
                <a:latin typeface="IBM Plex Sans" pitchFamily="34" charset="0"/>
                <a:ea typeface="IBM Plex Sans" pitchFamily="34" charset="-122"/>
                <a:cs typeface="IBM Plex Sans" pitchFamily="34" charset="-120"/>
              </a:rPr>
              <a:t>PyTorch: tensors and autograd</a:t>
            </a:r>
            <a:endParaRPr lang="en-US" sz="1400" dirty="0"/>
          </a:p>
        </p:txBody>
      </p:sp>
      <p:sp>
        <p:nvSpPr>
          <p:cNvPr id="24" name="Text 22"/>
          <p:cNvSpPr/>
          <p:nvPr/>
        </p:nvSpPr>
        <p:spPr>
          <a:xfrm>
            <a:off x="5288258" y="3923584"/>
            <a:ext cx="2122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notebook 05</a:t>
            </a:r>
            <a:endParaRPr lang="en-US" sz="1200" dirty="0"/>
          </a:p>
        </p:txBody>
      </p:sp>
      <p:sp>
        <p:nvSpPr>
          <p:cNvPr id="25" name="Shape 23"/>
          <p:cNvSpPr/>
          <p:nvPr/>
        </p:nvSpPr>
        <p:spPr>
          <a:xfrm>
            <a:off x="7336384" y="2044204"/>
            <a:ext cx="2122392" cy="1103858"/>
          </a:xfrm>
          <a:prstGeom prst="roundRect">
            <a:avLst>
              <a:gd name="adj" fmla="val 6903"/>
            </a:avLst>
          </a:prstGeom>
          <a:solidFill>
            <a:srgbClr val="F6F4EE"/>
          </a:solidFill>
          <a:ln/>
        </p:spPr>
        <p:txBody>
          <a:bodyPr/>
          <a:lstStyle/>
          <a:p>
            <a:endParaRPr lang="en-IT"/>
          </a:p>
        </p:txBody>
      </p:sp>
      <p:sp>
        <p:nvSpPr>
          <p:cNvPr id="26" name="Shape 24"/>
          <p:cNvSpPr/>
          <p:nvPr/>
        </p:nvSpPr>
        <p:spPr>
          <a:xfrm>
            <a:off x="7336384" y="2054372"/>
            <a:ext cx="2122392" cy="1093689"/>
          </a:xfrm>
          <a:custGeom>
            <a:avLst/>
            <a:gdLst/>
            <a:ahLst/>
            <a:cxnLst/>
            <a:rect l="l" t="t" r="r" b="b"/>
            <a:pathLst>
              <a:path w="2314575" h="1103858">
                <a:moveTo>
                  <a:pt x="0" y="76200"/>
                </a:moveTo>
                <a:lnTo>
                  <a:pt x="0" y="76200"/>
                </a:lnTo>
                <a:arcTo wR="76200" hR="76200" stAng="10800000" swAng="5400000"/>
                <a:lnTo>
                  <a:pt x="2238375" y="0"/>
                </a:lnTo>
                <a:arcTo wR="76200" hR="76200" stAng="16200000" swAng="5400000"/>
                <a:lnTo>
                  <a:pt x="2314575" y="76200"/>
                </a:lnTo>
                <a:arcTo wR="76200" hR="38100" stAng="0" swAng="-5400000"/>
                <a:lnTo>
                  <a:pt x="76200" y="38100"/>
                </a:lnTo>
                <a:arcTo wR="76200" hR="38100" stAng="16200000" swAng="-5400000"/>
                <a:close/>
              </a:path>
            </a:pathLst>
          </a:custGeom>
          <a:solidFill>
            <a:srgbClr val="2F5D8A"/>
          </a:solidFill>
          <a:ln/>
        </p:spPr>
        <p:txBody>
          <a:bodyPr/>
          <a:lstStyle/>
          <a:p>
            <a:endParaRPr lang="en-IT"/>
          </a:p>
        </p:txBody>
      </p:sp>
      <p:sp>
        <p:nvSpPr>
          <p:cNvPr id="27" name="Text 25"/>
          <p:cNvSpPr/>
          <p:nvPr/>
        </p:nvSpPr>
        <p:spPr>
          <a:xfrm>
            <a:off x="7469045" y="2209304"/>
            <a:ext cx="1924548"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172033"/>
                </a:solidFill>
                <a:latin typeface="IBM Plex Sans" pitchFamily="34" charset="0"/>
                <a:ea typeface="IBM Plex Sans" pitchFamily="34" charset="-122"/>
                <a:cs typeface="IBM Plex Sans" pitchFamily="34" charset="-120"/>
              </a:rPr>
              <a:t>DataLoaders and mini-batches</a:t>
            </a:r>
            <a:endParaRPr lang="en-US" sz="1400" dirty="0"/>
          </a:p>
        </p:txBody>
      </p:sp>
      <p:sp>
        <p:nvSpPr>
          <p:cNvPr id="28" name="Text 26"/>
          <p:cNvSpPr/>
          <p:nvPr/>
        </p:nvSpPr>
        <p:spPr>
          <a:xfrm>
            <a:off x="7425284" y="2730004"/>
            <a:ext cx="2122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notebook 07–08</a:t>
            </a:r>
            <a:endParaRPr lang="en-US" sz="1200" dirty="0"/>
          </a:p>
        </p:txBody>
      </p:sp>
      <p:sp>
        <p:nvSpPr>
          <p:cNvPr id="29" name="Text 27"/>
          <p:cNvSpPr/>
          <p:nvPr/>
        </p:nvSpPr>
        <p:spPr>
          <a:xfrm>
            <a:off x="9654183" y="3747930"/>
            <a:ext cx="23840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IBM Plex Mono" pitchFamily="49" charset="0"/>
                <a:ea typeface="IBM Plex Mono" pitchFamily="49" charset="-122"/>
                <a:cs typeface="IBM Plex Mono" pitchFamily="49" charset="-120"/>
              </a:rPr>
              <a:t>11:15 – 13:15</a:t>
            </a:r>
            <a:endParaRPr lang="en-US" sz="1200" dirty="0"/>
          </a:p>
        </p:txBody>
      </p:sp>
      <p:sp>
        <p:nvSpPr>
          <p:cNvPr id="31" name="Shape 29"/>
          <p:cNvSpPr/>
          <p:nvPr/>
        </p:nvSpPr>
        <p:spPr>
          <a:xfrm>
            <a:off x="815916" y="3236962"/>
            <a:ext cx="2076577" cy="1103858"/>
          </a:xfrm>
          <a:prstGeom prst="roundRect">
            <a:avLst>
              <a:gd name="adj" fmla="val 8000"/>
            </a:avLst>
          </a:prstGeom>
          <a:solidFill>
            <a:srgbClr val="F6F4EE"/>
          </a:solidFill>
          <a:ln/>
        </p:spPr>
        <p:txBody>
          <a:bodyPr/>
          <a:lstStyle/>
          <a:p>
            <a:endParaRPr lang="en-IT"/>
          </a:p>
        </p:txBody>
      </p:sp>
      <p:sp>
        <p:nvSpPr>
          <p:cNvPr id="32" name="Shape 30"/>
          <p:cNvSpPr/>
          <p:nvPr/>
        </p:nvSpPr>
        <p:spPr>
          <a:xfrm>
            <a:off x="789044" y="3236962"/>
            <a:ext cx="2093255" cy="1103858"/>
          </a:xfrm>
          <a:custGeom>
            <a:avLst/>
            <a:gdLst/>
            <a:ahLst/>
            <a:cxnLst/>
            <a:rect l="l" t="t" r="r" b="b"/>
            <a:pathLst>
              <a:path w="952500" h="1103858">
                <a:moveTo>
                  <a:pt x="0" y="76200"/>
                </a:moveTo>
                <a:lnTo>
                  <a:pt x="0" y="76200"/>
                </a:lnTo>
                <a:arcTo wR="76200" hR="76200" stAng="10800000" swAng="5400000"/>
                <a:lnTo>
                  <a:pt x="876300" y="0"/>
                </a:lnTo>
                <a:arcTo wR="76200" hR="76200" stAng="16200000" swAng="5400000"/>
                <a:lnTo>
                  <a:pt x="952500" y="76200"/>
                </a:lnTo>
                <a:arcTo wR="76200" hR="38100" stAng="0" swAng="-5400000"/>
                <a:lnTo>
                  <a:pt x="76200" y="38100"/>
                </a:lnTo>
                <a:arcTo wR="76200" hR="38100" stAng="16200000" swAng="-5400000"/>
                <a:close/>
              </a:path>
            </a:pathLst>
          </a:custGeom>
          <a:solidFill>
            <a:srgbClr val="A04E10"/>
          </a:solidFill>
          <a:ln/>
        </p:spPr>
        <p:txBody>
          <a:bodyPr/>
          <a:lstStyle/>
          <a:p>
            <a:endParaRPr lang="en-IT"/>
          </a:p>
        </p:txBody>
      </p:sp>
      <p:sp>
        <p:nvSpPr>
          <p:cNvPr id="33" name="Text 31"/>
          <p:cNvSpPr/>
          <p:nvPr/>
        </p:nvSpPr>
        <p:spPr>
          <a:xfrm>
            <a:off x="898686" y="3402062"/>
            <a:ext cx="1882763" cy="473968"/>
          </a:xfrm>
          <a:prstGeom prst="rect">
            <a:avLst/>
          </a:prstGeom>
          <a:noFill/>
          <a:ln/>
        </p:spPr>
        <p:txBody>
          <a:bodyPr wrap="square" lIns="0" tIns="0" rIns="0" bIns="0" rtlCol="0" anchor="t">
            <a:normAutofit/>
          </a:bodyPr>
          <a:lstStyle/>
          <a:p>
            <a:pPr marL="0" indent="0" algn="l">
              <a:lnSpc>
                <a:spcPts val="1187"/>
              </a:lnSpc>
              <a:buNone/>
            </a:pPr>
            <a:r>
              <a:rPr lang="en-US" sz="1400" dirty="0">
                <a:solidFill>
                  <a:srgbClr val="172033"/>
                </a:solidFill>
                <a:latin typeface="IBM Plex Sans" pitchFamily="34" charset="0"/>
                <a:ea typeface="IBM Plex Sans" pitchFamily="34" charset="-122"/>
                <a:cs typeface="IBM Plex Sans" pitchFamily="34" charset="-120"/>
              </a:rPr>
              <a:t>NumPy, and PCA by hand</a:t>
            </a:r>
            <a:endParaRPr lang="en-US" sz="1400" dirty="0"/>
          </a:p>
        </p:txBody>
      </p:sp>
      <p:sp>
        <p:nvSpPr>
          <p:cNvPr id="34" name="Text 32"/>
          <p:cNvSpPr/>
          <p:nvPr/>
        </p:nvSpPr>
        <p:spPr>
          <a:xfrm>
            <a:off x="924695" y="4014738"/>
            <a:ext cx="1387156" cy="312390"/>
          </a:xfrm>
          <a:prstGeom prst="rect">
            <a:avLst/>
          </a:prstGeom>
          <a:noFill/>
          <a:ln/>
        </p:spPr>
        <p:txBody>
          <a:bodyPr wrap="square" lIns="0" tIns="0" rIns="0" bIns="0" rtlCol="0" anchor="t">
            <a:normAutofit/>
          </a:bodyPr>
          <a:lstStyle/>
          <a:p>
            <a:pPr marL="0" indent="0" algn="l">
              <a:lnSpc>
                <a:spcPts val="1165"/>
              </a:lnSpc>
              <a:buNone/>
            </a:pPr>
            <a:r>
              <a:rPr lang="en-US" sz="1200" dirty="0">
                <a:solidFill>
                  <a:srgbClr val="596170"/>
                </a:solidFill>
                <a:latin typeface="IBM Plex Mono" pitchFamily="49" charset="0"/>
                <a:ea typeface="IBM Plex Mono" pitchFamily="49" charset="-122"/>
                <a:cs typeface="IBM Plex Mono" pitchFamily="49" charset="-120"/>
              </a:rPr>
              <a:t>notebook 01</a:t>
            </a:r>
            <a:endParaRPr lang="en-US" sz="1200" dirty="0"/>
          </a:p>
        </p:txBody>
      </p:sp>
      <p:sp>
        <p:nvSpPr>
          <p:cNvPr id="35" name="Shape 33"/>
          <p:cNvSpPr/>
          <p:nvPr/>
        </p:nvSpPr>
        <p:spPr>
          <a:xfrm>
            <a:off x="2972821" y="3236962"/>
            <a:ext cx="2082021" cy="1103858"/>
          </a:xfrm>
          <a:prstGeom prst="roundRect">
            <a:avLst>
              <a:gd name="adj" fmla="val 6903"/>
            </a:avLst>
          </a:prstGeom>
          <a:solidFill>
            <a:srgbClr val="F6F4EE"/>
          </a:solidFill>
          <a:ln/>
        </p:spPr>
        <p:txBody>
          <a:bodyPr/>
          <a:lstStyle/>
          <a:p>
            <a:endParaRPr lang="en-IT"/>
          </a:p>
        </p:txBody>
      </p:sp>
      <p:sp>
        <p:nvSpPr>
          <p:cNvPr id="36" name="Shape 34"/>
          <p:cNvSpPr/>
          <p:nvPr/>
        </p:nvSpPr>
        <p:spPr>
          <a:xfrm>
            <a:off x="2972821" y="3236962"/>
            <a:ext cx="2082021" cy="1103858"/>
          </a:xfrm>
          <a:custGeom>
            <a:avLst/>
            <a:gdLst/>
            <a:ahLst/>
            <a:cxnLst/>
            <a:rect l="l" t="t" r="r" b="b"/>
            <a:pathLst>
              <a:path w="2314575" h="1103858">
                <a:moveTo>
                  <a:pt x="0" y="76200"/>
                </a:moveTo>
                <a:lnTo>
                  <a:pt x="0" y="76200"/>
                </a:lnTo>
                <a:arcTo wR="76200" hR="76200" stAng="10800000" swAng="5400000"/>
                <a:lnTo>
                  <a:pt x="2238375" y="0"/>
                </a:lnTo>
                <a:arcTo wR="76200" hR="76200" stAng="16200000" swAng="5400000"/>
                <a:lnTo>
                  <a:pt x="2314575" y="76200"/>
                </a:lnTo>
                <a:arcTo wR="76200" hR="38100" stAng="0" swAng="-5400000"/>
                <a:lnTo>
                  <a:pt x="76200" y="38100"/>
                </a:lnTo>
                <a:arcTo wR="76200" hR="38100" stAng="16200000" swAng="-5400000"/>
                <a:close/>
              </a:path>
            </a:pathLst>
          </a:custGeom>
          <a:solidFill>
            <a:srgbClr val="A04E10"/>
          </a:solidFill>
          <a:ln/>
        </p:spPr>
        <p:txBody>
          <a:bodyPr/>
          <a:lstStyle/>
          <a:p>
            <a:endParaRPr lang="en-IT"/>
          </a:p>
        </p:txBody>
      </p:sp>
      <p:sp>
        <p:nvSpPr>
          <p:cNvPr id="37" name="Text 35"/>
          <p:cNvSpPr/>
          <p:nvPr/>
        </p:nvSpPr>
        <p:spPr>
          <a:xfrm>
            <a:off x="3071061" y="3402062"/>
            <a:ext cx="1918598"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172033"/>
                </a:solidFill>
                <a:latin typeface="IBM Plex Sans" pitchFamily="34" charset="0"/>
                <a:ea typeface="IBM Plex Sans" pitchFamily="34" charset="-122"/>
                <a:cs typeface="IBM Plex Sans" pitchFamily="34" charset="-120"/>
              </a:rPr>
              <a:t>pandas: groupby, merge, real data</a:t>
            </a:r>
            <a:endParaRPr lang="en-US" sz="1400" dirty="0"/>
          </a:p>
        </p:txBody>
      </p:sp>
      <p:sp>
        <p:nvSpPr>
          <p:cNvPr id="38" name="Text 36"/>
          <p:cNvSpPr/>
          <p:nvPr/>
        </p:nvSpPr>
        <p:spPr>
          <a:xfrm>
            <a:off x="3086699" y="3917702"/>
            <a:ext cx="1902960" cy="24378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notebook 02</a:t>
            </a:r>
            <a:endParaRPr lang="en-US" sz="1200" dirty="0"/>
          </a:p>
        </p:txBody>
      </p:sp>
      <p:sp>
        <p:nvSpPr>
          <p:cNvPr id="39" name="Shape 37"/>
          <p:cNvSpPr/>
          <p:nvPr/>
        </p:nvSpPr>
        <p:spPr>
          <a:xfrm>
            <a:off x="5130787" y="4448029"/>
            <a:ext cx="2082020" cy="1103858"/>
          </a:xfrm>
          <a:prstGeom prst="roundRect">
            <a:avLst>
              <a:gd name="adj" fmla="val 6903"/>
            </a:avLst>
          </a:prstGeom>
          <a:solidFill>
            <a:srgbClr val="F6F4EE"/>
          </a:solidFill>
          <a:ln/>
        </p:spPr>
        <p:txBody>
          <a:bodyPr/>
          <a:lstStyle/>
          <a:p>
            <a:endParaRPr lang="en-IT"/>
          </a:p>
        </p:txBody>
      </p:sp>
      <p:sp>
        <p:nvSpPr>
          <p:cNvPr id="40" name="Shape 38"/>
          <p:cNvSpPr/>
          <p:nvPr/>
        </p:nvSpPr>
        <p:spPr>
          <a:xfrm>
            <a:off x="5130787" y="4448029"/>
            <a:ext cx="2082020" cy="1103858"/>
          </a:xfrm>
          <a:custGeom>
            <a:avLst/>
            <a:gdLst/>
            <a:ahLst/>
            <a:cxnLst/>
            <a:rect l="l" t="t" r="r" b="b"/>
            <a:pathLst>
              <a:path w="2314575" h="1103858">
                <a:moveTo>
                  <a:pt x="0" y="76200"/>
                </a:moveTo>
                <a:lnTo>
                  <a:pt x="0" y="76200"/>
                </a:lnTo>
                <a:arcTo wR="76200" hR="76200" stAng="10800000" swAng="5400000"/>
                <a:lnTo>
                  <a:pt x="2238375" y="0"/>
                </a:lnTo>
                <a:arcTo wR="76200" hR="76200" stAng="16200000" swAng="5400000"/>
                <a:lnTo>
                  <a:pt x="2314575" y="76200"/>
                </a:lnTo>
                <a:arcTo wR="76200" hR="38100" stAng="0" swAng="-5400000"/>
                <a:lnTo>
                  <a:pt x="76200" y="38100"/>
                </a:lnTo>
                <a:arcTo wR="76200" hR="38100" stAng="16200000" swAng="-5400000"/>
                <a:close/>
              </a:path>
            </a:pathLst>
          </a:custGeom>
          <a:solidFill>
            <a:srgbClr val="2F5D8A"/>
          </a:solidFill>
          <a:ln/>
        </p:spPr>
        <p:txBody>
          <a:bodyPr/>
          <a:lstStyle/>
          <a:p>
            <a:endParaRPr lang="en-IT"/>
          </a:p>
        </p:txBody>
      </p:sp>
      <p:sp>
        <p:nvSpPr>
          <p:cNvPr id="41" name="Text 39"/>
          <p:cNvSpPr/>
          <p:nvPr/>
        </p:nvSpPr>
        <p:spPr>
          <a:xfrm>
            <a:off x="5223078" y="4613129"/>
            <a:ext cx="1924546"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172033"/>
                </a:solidFill>
                <a:latin typeface="IBM Plex Sans" pitchFamily="34" charset="0"/>
                <a:ea typeface="IBM Plex Sans" pitchFamily="34" charset="-122"/>
                <a:cs typeface="IBM Plex Sans" pitchFamily="34" charset="-120"/>
              </a:rPr>
              <a:t>First model: loss and optimizer</a:t>
            </a:r>
            <a:endParaRPr lang="en-US" sz="1400" dirty="0"/>
          </a:p>
        </p:txBody>
      </p:sp>
      <p:sp>
        <p:nvSpPr>
          <p:cNvPr id="42" name="Text 40"/>
          <p:cNvSpPr/>
          <p:nvPr/>
        </p:nvSpPr>
        <p:spPr>
          <a:xfrm>
            <a:off x="5212349" y="5128769"/>
            <a:ext cx="2122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notebook 06</a:t>
            </a:r>
            <a:endParaRPr lang="en-US" sz="1200" dirty="0"/>
          </a:p>
        </p:txBody>
      </p:sp>
      <p:sp>
        <p:nvSpPr>
          <p:cNvPr id="43" name="Shape 41"/>
          <p:cNvSpPr/>
          <p:nvPr/>
        </p:nvSpPr>
        <p:spPr>
          <a:xfrm>
            <a:off x="7343724" y="3236962"/>
            <a:ext cx="2115052" cy="1103858"/>
          </a:xfrm>
          <a:prstGeom prst="roundRect">
            <a:avLst>
              <a:gd name="adj" fmla="val 6903"/>
            </a:avLst>
          </a:prstGeom>
          <a:solidFill>
            <a:srgbClr val="F6F4EE"/>
          </a:solidFill>
          <a:ln/>
        </p:spPr>
        <p:txBody>
          <a:bodyPr/>
          <a:lstStyle/>
          <a:p>
            <a:endParaRPr lang="en-IT"/>
          </a:p>
        </p:txBody>
      </p:sp>
      <p:sp>
        <p:nvSpPr>
          <p:cNvPr id="44" name="Shape 42"/>
          <p:cNvSpPr/>
          <p:nvPr/>
        </p:nvSpPr>
        <p:spPr>
          <a:xfrm>
            <a:off x="7343724" y="3236962"/>
            <a:ext cx="2115052" cy="1103858"/>
          </a:xfrm>
          <a:custGeom>
            <a:avLst/>
            <a:gdLst/>
            <a:ahLst/>
            <a:cxnLst/>
            <a:rect l="l" t="t" r="r" b="b"/>
            <a:pathLst>
              <a:path w="2314575" h="1103858">
                <a:moveTo>
                  <a:pt x="0" y="76200"/>
                </a:moveTo>
                <a:lnTo>
                  <a:pt x="0" y="76200"/>
                </a:lnTo>
                <a:arcTo wR="76200" hR="76200" stAng="10800000" swAng="5400000"/>
                <a:lnTo>
                  <a:pt x="2238375" y="0"/>
                </a:lnTo>
                <a:arcTo wR="76200" hR="76200" stAng="16200000" swAng="5400000"/>
                <a:lnTo>
                  <a:pt x="2314575" y="76200"/>
                </a:lnTo>
                <a:arcTo wR="76200" hR="38100" stAng="0" swAng="-5400000"/>
                <a:lnTo>
                  <a:pt x="76200" y="38100"/>
                </a:lnTo>
                <a:arcTo wR="76200" hR="38100" stAng="16200000" swAng="-5400000"/>
                <a:close/>
              </a:path>
            </a:pathLst>
          </a:custGeom>
          <a:solidFill>
            <a:srgbClr val="2F5D8A"/>
          </a:solidFill>
          <a:ln/>
        </p:spPr>
        <p:txBody>
          <a:bodyPr/>
          <a:lstStyle/>
          <a:p>
            <a:endParaRPr lang="en-IT"/>
          </a:p>
        </p:txBody>
      </p:sp>
      <p:sp>
        <p:nvSpPr>
          <p:cNvPr id="45" name="Text 43"/>
          <p:cNvSpPr/>
          <p:nvPr/>
        </p:nvSpPr>
        <p:spPr>
          <a:xfrm>
            <a:off x="7425283" y="3402062"/>
            <a:ext cx="1968309" cy="469900"/>
          </a:xfrm>
          <a:prstGeom prst="rect">
            <a:avLst/>
          </a:prstGeom>
          <a:noFill/>
          <a:ln/>
        </p:spPr>
        <p:txBody>
          <a:bodyPr wrap="square" lIns="0" tIns="0" rIns="0" bIns="0" rtlCol="0" anchor="t">
            <a:normAutofit/>
          </a:bodyPr>
          <a:lstStyle/>
          <a:p>
            <a:pPr marL="0" indent="0" algn="l">
              <a:lnSpc>
                <a:spcPts val="1750"/>
              </a:lnSpc>
              <a:buNone/>
            </a:pPr>
            <a:r>
              <a:rPr lang="en-US" sz="1400" dirty="0">
                <a:solidFill>
                  <a:srgbClr val="172033"/>
                </a:solidFill>
                <a:latin typeface="IBM Plex Sans" pitchFamily="34" charset="0"/>
                <a:ea typeface="IBM Plex Sans" pitchFamily="34" charset="-122"/>
                <a:cs typeface="IBM Plex Sans" pitchFamily="34" charset="-120"/>
              </a:rPr>
              <a:t>Train and evaluate a network</a:t>
            </a:r>
            <a:endParaRPr lang="en-US" sz="1400" dirty="0"/>
          </a:p>
        </p:txBody>
      </p:sp>
      <p:sp>
        <p:nvSpPr>
          <p:cNvPr id="46" name="Text 44"/>
          <p:cNvSpPr/>
          <p:nvPr/>
        </p:nvSpPr>
        <p:spPr>
          <a:xfrm>
            <a:off x="7416711" y="3917702"/>
            <a:ext cx="2122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notebook 09</a:t>
            </a:r>
            <a:endParaRPr lang="en-US" sz="1200" dirty="0"/>
          </a:p>
        </p:txBody>
      </p:sp>
      <p:sp>
        <p:nvSpPr>
          <p:cNvPr id="47" name="Text 45"/>
          <p:cNvSpPr/>
          <p:nvPr/>
        </p:nvSpPr>
        <p:spPr>
          <a:xfrm>
            <a:off x="9689237" y="4963669"/>
            <a:ext cx="23840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2033"/>
                </a:solidFill>
                <a:latin typeface="IBM Plex Mono" pitchFamily="49" charset="0"/>
                <a:ea typeface="IBM Plex Mono" pitchFamily="49" charset="-122"/>
                <a:cs typeface="IBM Plex Mono" pitchFamily="49" charset="-120"/>
              </a:rPr>
              <a:t>14:30 – 16:30</a:t>
            </a:r>
            <a:endParaRPr lang="en-US" sz="1200" dirty="0"/>
          </a:p>
        </p:txBody>
      </p:sp>
      <p:sp>
        <p:nvSpPr>
          <p:cNvPr id="49" name="Shape 47"/>
          <p:cNvSpPr/>
          <p:nvPr/>
        </p:nvSpPr>
        <p:spPr>
          <a:xfrm>
            <a:off x="5165462" y="2065464"/>
            <a:ext cx="2082021" cy="1103908"/>
          </a:xfrm>
          <a:prstGeom prst="roundRect">
            <a:avLst>
              <a:gd name="adj" fmla="val 8000"/>
            </a:avLst>
          </a:prstGeom>
          <a:solidFill>
            <a:srgbClr val="F6F4EE"/>
          </a:solidFill>
          <a:ln/>
        </p:spPr>
        <p:txBody>
          <a:bodyPr/>
          <a:lstStyle/>
          <a:p>
            <a:endParaRPr lang="en-IT"/>
          </a:p>
        </p:txBody>
      </p:sp>
      <p:sp>
        <p:nvSpPr>
          <p:cNvPr id="50" name="Shape 48"/>
          <p:cNvSpPr/>
          <p:nvPr/>
        </p:nvSpPr>
        <p:spPr>
          <a:xfrm>
            <a:off x="5165462" y="2030549"/>
            <a:ext cx="1982161" cy="1103908"/>
          </a:xfrm>
          <a:custGeom>
            <a:avLst/>
            <a:gdLst/>
            <a:ahLst/>
            <a:cxnLst/>
            <a:rect l="l" t="t" r="r" b="b"/>
            <a:pathLst>
              <a:path w="952500" h="1103908">
                <a:moveTo>
                  <a:pt x="0" y="76200"/>
                </a:moveTo>
                <a:lnTo>
                  <a:pt x="0" y="76200"/>
                </a:lnTo>
                <a:arcTo wR="76200" hR="76200" stAng="10800000" swAng="5400000"/>
                <a:lnTo>
                  <a:pt x="876300" y="0"/>
                </a:lnTo>
                <a:arcTo wR="76200" hR="76200" stAng="16200000" swAng="5400000"/>
                <a:lnTo>
                  <a:pt x="952500" y="76200"/>
                </a:lnTo>
                <a:arcTo wR="76200" hR="38100" stAng="0" swAng="-5400000"/>
                <a:lnTo>
                  <a:pt x="76200" y="38100"/>
                </a:lnTo>
                <a:arcTo wR="76200" hR="38100" stAng="16200000" swAng="-5400000"/>
                <a:close/>
              </a:path>
            </a:pathLst>
          </a:custGeom>
          <a:solidFill>
            <a:srgbClr val="A04E10"/>
          </a:solidFill>
          <a:ln/>
        </p:spPr>
        <p:txBody>
          <a:bodyPr/>
          <a:lstStyle/>
          <a:p>
            <a:endParaRPr lang="en-IT"/>
          </a:p>
        </p:txBody>
      </p:sp>
      <p:sp>
        <p:nvSpPr>
          <p:cNvPr id="51" name="Text 49"/>
          <p:cNvSpPr/>
          <p:nvPr/>
        </p:nvSpPr>
        <p:spPr>
          <a:xfrm>
            <a:off x="5288258" y="2195649"/>
            <a:ext cx="1751965" cy="556915"/>
          </a:xfrm>
          <a:prstGeom prst="rect">
            <a:avLst/>
          </a:prstGeom>
          <a:noFill/>
          <a:ln/>
        </p:spPr>
        <p:txBody>
          <a:bodyPr wrap="square" lIns="0" tIns="0" rIns="0" bIns="0" rtlCol="0" anchor="t">
            <a:normAutofit/>
          </a:bodyPr>
          <a:lstStyle/>
          <a:p>
            <a:pPr marL="0" indent="0" algn="l">
              <a:lnSpc>
                <a:spcPts val="1170"/>
              </a:lnSpc>
              <a:buNone/>
            </a:pPr>
            <a:r>
              <a:rPr lang="en-US" sz="1300" dirty="0">
                <a:solidFill>
                  <a:srgbClr val="172033"/>
                </a:solidFill>
                <a:latin typeface="IBM Plex Sans" pitchFamily="34" charset="0"/>
                <a:ea typeface="IBM Plex Sans" pitchFamily="34" charset="-122"/>
                <a:cs typeface="IBM Plex Sans" pitchFamily="34" charset="-120"/>
              </a:rPr>
              <a:t>Visualization: Matplotlib, Seaborn</a:t>
            </a:r>
            <a:endParaRPr lang="en-US" sz="1300" dirty="0"/>
          </a:p>
        </p:txBody>
      </p:sp>
      <p:sp>
        <p:nvSpPr>
          <p:cNvPr id="52" name="Text 50"/>
          <p:cNvSpPr/>
          <p:nvPr/>
        </p:nvSpPr>
        <p:spPr>
          <a:xfrm>
            <a:off x="5288258" y="2817404"/>
            <a:ext cx="1238513" cy="240605"/>
          </a:xfrm>
          <a:prstGeom prst="rect">
            <a:avLst/>
          </a:prstGeom>
          <a:noFill/>
          <a:ln/>
        </p:spPr>
        <p:txBody>
          <a:bodyPr wrap="square" lIns="0" tIns="0" rIns="0" bIns="0" rtlCol="0" anchor="t">
            <a:noAutofit/>
          </a:bodyPr>
          <a:lstStyle/>
          <a:p>
            <a:pPr marL="0" indent="0" algn="l">
              <a:lnSpc>
                <a:spcPts val="1165"/>
              </a:lnSpc>
              <a:buNone/>
            </a:pPr>
            <a:r>
              <a:rPr lang="en-US" sz="1200" dirty="0">
                <a:solidFill>
                  <a:srgbClr val="596170"/>
                </a:solidFill>
                <a:latin typeface="IBM Plex Mono" pitchFamily="49" charset="0"/>
                <a:ea typeface="IBM Plex Mono" pitchFamily="49" charset="-122"/>
                <a:cs typeface="IBM Plex Mono" pitchFamily="49" charset="-120"/>
              </a:rPr>
              <a:t>notebook 03</a:t>
            </a:r>
            <a:endParaRPr lang="en-US" sz="1200" dirty="0"/>
          </a:p>
        </p:txBody>
      </p:sp>
      <p:sp>
        <p:nvSpPr>
          <p:cNvPr id="53" name="Shape 51"/>
          <p:cNvSpPr/>
          <p:nvPr/>
        </p:nvSpPr>
        <p:spPr>
          <a:xfrm>
            <a:off x="812800" y="5741442"/>
            <a:ext cx="177800" cy="50800"/>
          </a:xfrm>
          <a:prstGeom prst="rect">
            <a:avLst/>
          </a:prstGeom>
          <a:solidFill>
            <a:srgbClr val="A04E10"/>
          </a:solidFill>
          <a:ln/>
        </p:spPr>
        <p:txBody>
          <a:bodyPr/>
          <a:lstStyle/>
          <a:p>
            <a:endParaRPr lang="en-IT"/>
          </a:p>
        </p:txBody>
      </p:sp>
      <p:sp>
        <p:nvSpPr>
          <p:cNvPr id="54" name="Text 52"/>
          <p:cNvSpPr/>
          <p:nvPr/>
        </p:nvSpPr>
        <p:spPr>
          <a:xfrm>
            <a:off x="1066800" y="5660182"/>
            <a:ext cx="14784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3"/>
                </a:solidFill>
                <a:latin typeface="IBM Plex Sans" pitchFamily="34" charset="0"/>
                <a:ea typeface="IBM Plex Sans" pitchFamily="34" charset="-122"/>
                <a:cs typeface="IBM Plex Sans" pitchFamily="34" charset="-120"/>
              </a:rPr>
              <a:t>Working with data</a:t>
            </a:r>
            <a:endParaRPr lang="en-US" sz="1200" dirty="0"/>
          </a:p>
        </p:txBody>
      </p:sp>
      <p:sp>
        <p:nvSpPr>
          <p:cNvPr id="55" name="Shape 53"/>
          <p:cNvSpPr/>
          <p:nvPr/>
        </p:nvSpPr>
        <p:spPr>
          <a:xfrm>
            <a:off x="2603649" y="5741442"/>
            <a:ext cx="177800" cy="50800"/>
          </a:xfrm>
          <a:prstGeom prst="rect">
            <a:avLst/>
          </a:prstGeom>
          <a:solidFill>
            <a:srgbClr val="2F5D8A"/>
          </a:solidFill>
          <a:ln/>
        </p:spPr>
        <p:txBody>
          <a:bodyPr/>
          <a:lstStyle/>
          <a:p>
            <a:endParaRPr lang="en-IT"/>
          </a:p>
        </p:txBody>
      </p:sp>
      <p:sp>
        <p:nvSpPr>
          <p:cNvPr id="56" name="Text 54"/>
          <p:cNvSpPr/>
          <p:nvPr/>
        </p:nvSpPr>
        <p:spPr>
          <a:xfrm>
            <a:off x="2857649" y="5660182"/>
            <a:ext cx="238204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3"/>
                </a:solidFill>
                <a:latin typeface="IBM Plex Sans" pitchFamily="34" charset="0"/>
                <a:ea typeface="IBM Plex Sans" pitchFamily="34" charset="-122"/>
                <a:cs typeface="IBM Plex Sans" pitchFamily="34" charset="-120"/>
              </a:rPr>
              <a:t>Machine learning with PyTorch</a:t>
            </a:r>
            <a:endParaRPr lang="en-US" sz="1200" dirty="0"/>
          </a:p>
        </p:txBody>
      </p:sp>
      <p:sp>
        <p:nvSpPr>
          <p:cNvPr id="57" name="Text 55"/>
          <p:cNvSpPr/>
          <p:nvPr/>
        </p:nvSpPr>
        <p:spPr>
          <a:xfrm>
            <a:off x="5239693" y="5660182"/>
            <a:ext cx="47163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263"/>
                </a:solidFill>
                <a:latin typeface="IBM Plex Sans" pitchFamily="34" charset="0"/>
                <a:ea typeface="IBM Plex Sans" pitchFamily="34" charset="-122"/>
                <a:cs typeface="IBM Plex Sans" pitchFamily="34" charset="-120"/>
              </a:rPr>
              <a:t>Take-home: project on image and text data (notebook 04)</a:t>
            </a:r>
            <a:endParaRPr lang="en-US" sz="1200" dirty="0"/>
          </a:p>
        </p:txBody>
      </p:sp>
      <p:sp>
        <p:nvSpPr>
          <p:cNvPr id="58" name="Text 56"/>
          <p:cNvSpPr/>
          <p:nvPr/>
        </p:nvSpPr>
        <p:spPr>
          <a:xfrm>
            <a:off x="812800" y="6243340"/>
            <a:ext cx="25237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Python I · MDMC 2026–27</a:t>
            </a:r>
            <a:endParaRPr lang="en-US" sz="1200" dirty="0"/>
          </a:p>
        </p:txBody>
      </p:sp>
      <p:sp>
        <p:nvSpPr>
          <p:cNvPr id="59" name="Text 57"/>
          <p:cNvSpPr/>
          <p:nvPr/>
        </p:nvSpPr>
        <p:spPr>
          <a:xfrm>
            <a:off x="10830560" y="6243340"/>
            <a:ext cx="5486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6170"/>
                </a:solidFill>
                <a:latin typeface="IBM Plex Mono" pitchFamily="49" charset="0"/>
                <a:ea typeface="IBM Plex Mono" pitchFamily="49" charset="-122"/>
                <a:cs typeface="IBM Plex Mono" pitchFamily="49" charset="-120"/>
              </a:rPr>
              <a:t>8 / 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43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72033"/>
                </a:solidFill>
                <a:latin typeface="IBM Plex Sans" pitchFamily="34" charset="0"/>
                <a:ea typeface="IBM Plex Sans" pitchFamily="34" charset="-122"/>
                <a:cs typeface="IBM Plex Sans" pitchFamily="34" charset="-120"/>
              </a:rPr>
              <a:t>How we will work</a:t>
            </a:r>
            <a:endParaRPr lang="en-US" sz="3200" dirty="0"/>
          </a:p>
        </p:txBody>
      </p:sp>
      <p:sp>
        <p:nvSpPr>
          <p:cNvPr id="3" name="Shape 1"/>
          <p:cNvSpPr/>
          <p:nvPr/>
        </p:nvSpPr>
        <p:spPr>
          <a:xfrm>
            <a:off x="812800" y="1564630"/>
            <a:ext cx="5181600" cy="1381671"/>
          </a:xfrm>
          <a:prstGeom prst="roundRect">
            <a:avLst>
              <a:gd name="adj" fmla="val 7353"/>
            </a:avLst>
          </a:prstGeom>
          <a:solidFill>
            <a:srgbClr val="ECE8DF"/>
          </a:solidFill>
          <a:ln/>
        </p:spPr>
        <p:txBody>
          <a:bodyPr/>
          <a:lstStyle/>
          <a:p>
            <a:endParaRPr lang="en-IT"/>
          </a:p>
        </p:txBody>
      </p:sp>
      <p:sp>
        <p:nvSpPr>
          <p:cNvPr id="4" name="Text 2"/>
          <p:cNvSpPr/>
          <p:nvPr/>
        </p:nvSpPr>
        <p:spPr>
          <a:xfrm>
            <a:off x="1066800" y="181863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033"/>
                </a:solidFill>
                <a:latin typeface="IBM Plex Sans" pitchFamily="34" charset="0"/>
                <a:ea typeface="IBM Plex Sans" pitchFamily="34" charset="-122"/>
                <a:cs typeface="IBM Plex Sans" pitchFamily="34" charset="-120"/>
              </a:rPr>
              <a:t>Laboratory format</a:t>
            </a:r>
            <a:endParaRPr lang="en-US" sz="1800" dirty="0"/>
          </a:p>
        </p:txBody>
      </p:sp>
      <p:sp>
        <p:nvSpPr>
          <p:cNvPr id="5" name="Text 3"/>
          <p:cNvSpPr/>
          <p:nvPr/>
        </p:nvSpPr>
        <p:spPr>
          <a:xfrm>
            <a:off x="1066800" y="2194520"/>
            <a:ext cx="481380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IBM Plex Sans" pitchFamily="34" charset="0"/>
                <a:ea typeface="IBM Plex Sans" pitchFamily="34" charset="-122"/>
                <a:cs typeface="IBM Plex Sans" pitchFamily="34" charset="-120"/>
              </a:rPr>
              <a:t>Every block: a short introduction, then exercises in a Jupyter notebook.</a:t>
            </a:r>
            <a:endParaRPr lang="en-US" sz="1400" dirty="0"/>
          </a:p>
        </p:txBody>
      </p:sp>
      <p:sp>
        <p:nvSpPr>
          <p:cNvPr id="6" name="Shape 4"/>
          <p:cNvSpPr/>
          <p:nvPr/>
        </p:nvSpPr>
        <p:spPr>
          <a:xfrm>
            <a:off x="6197600" y="1564630"/>
            <a:ext cx="5181600" cy="1381671"/>
          </a:xfrm>
          <a:prstGeom prst="roundRect">
            <a:avLst>
              <a:gd name="adj" fmla="val 7353"/>
            </a:avLst>
          </a:prstGeom>
          <a:solidFill>
            <a:srgbClr val="ECE8DF"/>
          </a:solidFill>
          <a:ln/>
        </p:spPr>
        <p:txBody>
          <a:bodyPr/>
          <a:lstStyle/>
          <a:p>
            <a:endParaRPr lang="en-IT"/>
          </a:p>
        </p:txBody>
      </p:sp>
      <p:sp>
        <p:nvSpPr>
          <p:cNvPr id="7" name="Text 5"/>
          <p:cNvSpPr/>
          <p:nvPr/>
        </p:nvSpPr>
        <p:spPr>
          <a:xfrm>
            <a:off x="6451600" y="181863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033"/>
                </a:solidFill>
                <a:latin typeface="IBM Plex Sans" pitchFamily="34" charset="0"/>
                <a:ea typeface="IBM Plex Sans" pitchFamily="34" charset="-122"/>
                <a:cs typeface="IBM Plex Sans" pitchFamily="34" charset="-120"/>
              </a:rPr>
              <a:t>Materials</a:t>
            </a:r>
            <a:endParaRPr lang="en-US" sz="1800" dirty="0"/>
          </a:p>
        </p:txBody>
      </p:sp>
      <p:sp>
        <p:nvSpPr>
          <p:cNvPr id="8" name="Text 6"/>
          <p:cNvSpPr/>
          <p:nvPr/>
        </p:nvSpPr>
        <p:spPr>
          <a:xfrm>
            <a:off x="6451600" y="2194520"/>
            <a:ext cx="481380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IBM Plex Sans" pitchFamily="34" charset="0"/>
                <a:ea typeface="IBM Plex Sans" pitchFamily="34" charset="-122"/>
                <a:cs typeface="IBM Plex Sans" pitchFamily="34" charset="-120"/>
              </a:rPr>
              <a:t>One notebook per topic, with its data. Solutions are shared after each block.</a:t>
            </a:r>
            <a:endParaRPr lang="en-US" sz="1400" dirty="0"/>
          </a:p>
        </p:txBody>
      </p:sp>
      <p:sp>
        <p:nvSpPr>
          <p:cNvPr id="9" name="Shape 7"/>
          <p:cNvSpPr/>
          <p:nvPr/>
        </p:nvSpPr>
        <p:spPr>
          <a:xfrm>
            <a:off x="812800" y="3149501"/>
            <a:ext cx="5181600" cy="1381671"/>
          </a:xfrm>
          <a:prstGeom prst="roundRect">
            <a:avLst>
              <a:gd name="adj" fmla="val 7353"/>
            </a:avLst>
          </a:prstGeom>
          <a:solidFill>
            <a:srgbClr val="ECE8DF"/>
          </a:solidFill>
          <a:ln/>
        </p:spPr>
        <p:txBody>
          <a:bodyPr/>
          <a:lstStyle/>
          <a:p>
            <a:endParaRPr lang="en-IT"/>
          </a:p>
        </p:txBody>
      </p:sp>
      <p:sp>
        <p:nvSpPr>
          <p:cNvPr id="10" name="Text 8"/>
          <p:cNvSpPr/>
          <p:nvPr/>
        </p:nvSpPr>
        <p:spPr>
          <a:xfrm>
            <a:off x="1066800" y="3403501"/>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033"/>
                </a:solidFill>
                <a:latin typeface="IBM Plex Sans" pitchFamily="34" charset="0"/>
                <a:ea typeface="IBM Plex Sans" pitchFamily="34" charset="-122"/>
                <a:cs typeface="IBM Plex Sans" pitchFamily="34" charset="-120"/>
              </a:rPr>
              <a:t>Your setup</a:t>
            </a:r>
            <a:endParaRPr lang="en-US" sz="1800" dirty="0"/>
          </a:p>
        </p:txBody>
      </p:sp>
      <p:sp>
        <p:nvSpPr>
          <p:cNvPr id="11" name="Text 9"/>
          <p:cNvSpPr/>
          <p:nvPr/>
        </p:nvSpPr>
        <p:spPr>
          <a:xfrm>
            <a:off x="1066800" y="3779391"/>
            <a:ext cx="481380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IBM Plex Sans" pitchFamily="34" charset="0"/>
                <a:ea typeface="IBM Plex Sans" pitchFamily="34" charset="-122"/>
                <a:cs typeface="IBM Plex Sans" pitchFamily="34" charset="-120"/>
              </a:rPr>
              <a:t>Jupyter on your Linux laptop or the course VM; the packages are listed in requirements.txt.</a:t>
            </a:r>
            <a:endParaRPr lang="en-US" sz="1400" dirty="0"/>
          </a:p>
        </p:txBody>
      </p:sp>
      <p:sp>
        <p:nvSpPr>
          <p:cNvPr id="12" name="Shape 10"/>
          <p:cNvSpPr/>
          <p:nvPr/>
        </p:nvSpPr>
        <p:spPr>
          <a:xfrm>
            <a:off x="6197600" y="3149501"/>
            <a:ext cx="5181600" cy="1381671"/>
          </a:xfrm>
          <a:prstGeom prst="roundRect">
            <a:avLst>
              <a:gd name="adj" fmla="val 7353"/>
            </a:avLst>
          </a:prstGeom>
          <a:solidFill>
            <a:srgbClr val="ECE8DF"/>
          </a:solidFill>
          <a:ln/>
        </p:spPr>
        <p:txBody>
          <a:bodyPr/>
          <a:lstStyle/>
          <a:p>
            <a:endParaRPr lang="en-IT"/>
          </a:p>
        </p:txBody>
      </p:sp>
      <p:sp>
        <p:nvSpPr>
          <p:cNvPr id="13" name="Text 11"/>
          <p:cNvSpPr/>
          <p:nvPr/>
        </p:nvSpPr>
        <p:spPr>
          <a:xfrm>
            <a:off x="6451600" y="3403501"/>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2033"/>
                </a:solidFill>
                <a:latin typeface="IBM Plex Sans" pitchFamily="34" charset="0"/>
                <a:ea typeface="IBM Plex Sans" pitchFamily="34" charset="-122"/>
                <a:cs typeface="IBM Plex Sans" pitchFamily="34" charset="-120"/>
              </a:rPr>
              <a:t>What we assume</a:t>
            </a:r>
            <a:endParaRPr lang="en-US" sz="1800" dirty="0"/>
          </a:p>
        </p:txBody>
      </p:sp>
      <p:sp>
        <p:nvSpPr>
          <p:cNvPr id="14" name="Text 12"/>
          <p:cNvSpPr/>
          <p:nvPr/>
        </p:nvSpPr>
        <p:spPr>
          <a:xfrm>
            <a:off x="6451600" y="3779391"/>
            <a:ext cx="481380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263"/>
                </a:solidFill>
                <a:latin typeface="IBM Plex Sans" pitchFamily="34" charset="0"/>
                <a:ea typeface="IBM Plex Sans" pitchFamily="34" charset="-122"/>
                <a:cs typeface="IBM Plex Sans" pitchFamily="34" charset="-120"/>
              </a:rPr>
              <a:t>Basic Python, as in the admission requirements, plus the shell and Git from the two foundation modules.</a:t>
            </a:r>
            <a:endParaRPr lang="en-US" sz="1400" dirty="0"/>
          </a:p>
        </p:txBody>
      </p:sp>
      <p:sp>
        <p:nvSpPr>
          <p:cNvPr id="15" name="Text 13"/>
          <p:cNvSpPr/>
          <p:nvPr/>
        </p:nvSpPr>
        <p:spPr>
          <a:xfrm>
            <a:off x="812800" y="4835970"/>
            <a:ext cx="10883392" cy="120922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04E10"/>
                </a:solidFill>
                <a:latin typeface="IBM Plex Mono" pitchFamily="49" charset="0"/>
                <a:ea typeface="IBM Plex Mono" pitchFamily="49" charset="-122"/>
                <a:cs typeface="IBM Plex Mono" pitchFamily="49" charset="-120"/>
              </a:rPr>
              <a:t>Questions: </a:t>
            </a:r>
            <a:r>
              <a:rPr lang="en-US" sz="1200" dirty="0">
                <a:solidFill>
                  <a:srgbClr val="A04E10"/>
                </a:solidFill>
                <a:latin typeface="IBM Plex Mono" pitchFamily="49" charset="0"/>
                <a:ea typeface="IBM Plex Mono" pitchFamily="49" charset="-122"/>
                <a:cs typeface="IBM Plex Mono" pitchFamily="49" charset="-120"/>
                <a:hlinkClick r:id="rId3"/>
              </a:rPr>
              <a:t>matteo.biagetti@areasciencepark.it</a:t>
            </a:r>
            <a:br>
              <a:rPr lang="en-US" sz="1200" dirty="0">
                <a:solidFill>
                  <a:srgbClr val="A04E10"/>
                </a:solidFill>
                <a:latin typeface="IBM Plex Mono" pitchFamily="49" charset="0"/>
                <a:ea typeface="IBM Plex Mono" pitchFamily="49" charset="-122"/>
                <a:cs typeface="IBM Plex Mono" pitchFamily="49" charset="-120"/>
              </a:rPr>
            </a:br>
            <a:br>
              <a:rPr lang="en-US" sz="1200" dirty="0">
                <a:solidFill>
                  <a:srgbClr val="A04E10"/>
                </a:solidFill>
                <a:latin typeface="IBM Plex Mono" pitchFamily="49" charset="0"/>
                <a:ea typeface="IBM Plex Mono" pitchFamily="49" charset="-122"/>
                <a:cs typeface="IBM Plex Mono" pitchFamily="49" charset="-120"/>
              </a:rPr>
            </a:br>
            <a:r>
              <a:rPr lang="en-US" sz="1200" dirty="0">
                <a:solidFill>
                  <a:srgbClr val="A04E10"/>
                </a:solidFill>
                <a:latin typeface="IBM Plex Mono" pitchFamily="49" charset="0"/>
                <a:ea typeface="IBM Plex Mono" pitchFamily="49" charset="-122"/>
                <a:cs typeface="IBM Plex Mono" pitchFamily="49" charset="-120"/>
              </a:rPr>
              <a:t>Tutor: Sven Heydenreich</a:t>
            </a:r>
            <a:endParaRPr lang="en-US" sz="1200" dirty="0"/>
          </a:p>
        </p:txBody>
      </p:sp>
      <p:sp>
        <p:nvSpPr>
          <p:cNvPr id="16" name="Text 14"/>
          <p:cNvSpPr/>
          <p:nvPr/>
        </p:nvSpPr>
        <p:spPr>
          <a:xfrm>
            <a:off x="812800" y="6243340"/>
            <a:ext cx="252376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96170"/>
                </a:solidFill>
                <a:latin typeface="IBM Plex Mono" pitchFamily="49" charset="0"/>
                <a:ea typeface="IBM Plex Mono" pitchFamily="49" charset="-122"/>
                <a:cs typeface="IBM Plex Mono" pitchFamily="49" charset="-120"/>
              </a:rPr>
              <a:t>Python I · MDMC 2026–27</a:t>
            </a:r>
            <a:endParaRPr lang="en-US" sz="1200" dirty="0"/>
          </a:p>
        </p:txBody>
      </p:sp>
      <p:sp>
        <p:nvSpPr>
          <p:cNvPr id="17" name="Text 15"/>
          <p:cNvSpPr/>
          <p:nvPr/>
        </p:nvSpPr>
        <p:spPr>
          <a:xfrm>
            <a:off x="10830560" y="6243340"/>
            <a:ext cx="54864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96170"/>
                </a:solidFill>
                <a:latin typeface="IBM Plex Mono" pitchFamily="49" charset="0"/>
                <a:ea typeface="IBM Plex Mono" pitchFamily="49" charset="-122"/>
                <a:cs typeface="IBM Plex Mono" pitchFamily="49" charset="-120"/>
              </a:rPr>
              <a:t>9 / 9</a:t>
            </a:r>
            <a:endParaRPr lang="en-US" sz="12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itle 1"/>
          <p:cNvSpPr>
            <a:spLocks noGrp="1"/>
          </p:cNvSpPr>
          <p:nvPr>
            <p:ph type="title"/>
          </p:nvPr>
        </p:nvSpPr>
        <p:spPr>
          <a:xfrm>
            <a:off x="812800" y="812800"/>
            <a:ext cx="10566400" cy="469900"/>
          </a:xfrm>
        </p:spPr>
        <p:txBody>
          <a:bodyPr wrap="square" lIns="0" rIns="0" tIns="0" bIns="0" anchor="t">
            <a:noAutofit/>
          </a:bodyPr>
          <a:lstStyle/>
          <a:p>
            <a:pPr algn="l">
              <a:lnSpc>
                <a:spcPts val="3520"/>
              </a:lnSpc>
            </a:pPr>
            <a:r>
              <a:rPr sz="3200" b="1">
                <a:solidFill>
                  <a:srgbClr val="172033"/>
                </a:solidFill>
                <a:latin typeface="IBM Plex Sans" pitchFamily="34" charset="0"/>
                <a:ea typeface="IBM Plex Sans" pitchFamily="34" charset="-122"/>
                <a:cs typeface="IBM Plex Sans" pitchFamily="34" charset="-120"/>
              </a:rPr>
              <a:t>Python in landmark research</a:t>
            </a:r>
          </a:p>
        </p:txBody>
      </p:sp>
      <p:sp>
        <p:nvSpPr>
          <p:cNvPr id="3" name="Card 1"/>
          <p:cNvSpPr/>
          <p:nvPr/>
        </p:nvSpPr>
        <p:spPr>
          <a:xfrm>
            <a:off x="812800" y="1587500"/>
            <a:ext cx="3386667" cy="3556000"/>
          </a:xfrm>
          <a:prstGeom prst="roundRect">
            <a:avLst>
              <a:gd name="adj" fmla="val 3000"/>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ard 1 label"/>
          <p:cNvSpPr txBox="1"/>
          <p:nvPr/>
        </p:nvSpPr>
        <p:spPr>
          <a:xfrm>
            <a:off x="1066800" y="1841500"/>
            <a:ext cx="2878667" cy="215900"/>
          </a:xfrm>
          <a:prstGeom prst="rect">
            <a:avLst/>
          </a:prstGeom>
          <a:noFill/>
        </p:spPr>
        <p:txBody>
          <a:bodyPr wrap="square" lIns="0" rIns="0" tIns="0" bIns="0" anchor="t">
            <a:noAutofit/>
          </a:bodyPr>
          <a:lstStyle/>
          <a:p>
            <a:pPr algn="l">
              <a:lnSpc>
                <a:spcPts val="1679"/>
              </a:lnSpc>
            </a:pPr>
            <a:r>
              <a:rPr sz="1200" b="0">
                <a:solidFill>
                  <a:srgbClr val="A04E10"/>
                </a:solidFill>
                <a:latin typeface="IBM Plex Mono" pitchFamily="49" charset="0"/>
                <a:ea typeface="IBM Plex Mono" pitchFamily="49" charset="-122"/>
                <a:cs typeface="IBM Plex Mono" pitchFamily="49" charset="-120"/>
              </a:rPr>
              <a:t>2015 · LIGO</a:t>
            </a:r>
          </a:p>
        </p:txBody>
      </p:sp>
      <p:sp>
        <p:nvSpPr>
          <p:cNvPr id="5" name="Card 1 title"/>
          <p:cNvSpPr txBox="1"/>
          <p:nvPr/>
        </p:nvSpPr>
        <p:spPr>
          <a:xfrm>
            <a:off x="1066800" y="2159000"/>
            <a:ext cx="2878667" cy="571500"/>
          </a:xfrm>
          <a:prstGeom prst="rect">
            <a:avLst/>
          </a:prstGeom>
          <a:noFill/>
        </p:spPr>
        <p:txBody>
          <a:bodyPr wrap="square" lIns="0" rIns="0" tIns="0" bIns="0" anchor="t">
            <a:noAutofit/>
          </a:bodyPr>
          <a:lstStyle/>
          <a:p>
            <a:pPr algn="l">
              <a:lnSpc>
                <a:spcPts val="2160"/>
              </a:lnSpc>
            </a:pPr>
            <a:r>
              <a:rPr sz="1800" b="1">
                <a:solidFill>
                  <a:srgbClr val="172033"/>
                </a:solidFill>
                <a:latin typeface="IBM Plex Sans" pitchFamily="34" charset="0"/>
                <a:ea typeface="IBM Plex Sans" pitchFamily="34" charset="-122"/>
                <a:cs typeface="IBM Plex Sans" pitchFamily="34" charset="-120"/>
              </a:rPr>
              <a:t>First detection of gravitational waves</a:t>
            </a:r>
          </a:p>
        </p:txBody>
      </p:sp>
      <p:sp>
        <p:nvSpPr>
          <p:cNvPr id="6" name="Card 1 text"/>
          <p:cNvSpPr txBox="1"/>
          <p:nvPr/>
        </p:nvSpPr>
        <p:spPr>
          <a:xfrm>
            <a:off x="1066800" y="2832100"/>
            <a:ext cx="2878667" cy="1524000"/>
          </a:xfrm>
          <a:prstGeom prst="rect">
            <a:avLst/>
          </a:prstGeom>
          <a:noFill/>
        </p:spPr>
        <p:txBody>
          <a:bodyPr wrap="square" lIns="0" rIns="0" tIns="0" bIns="0" anchor="t">
            <a:noAutofit/>
          </a:bodyPr>
          <a:lstStyle/>
          <a:p>
            <a:pPr algn="l">
              <a:lnSpc>
                <a:spcPts val="1959"/>
              </a:lnSpc>
            </a:pPr>
            <a:r>
              <a:rPr sz="1400" b="0">
                <a:solidFill>
                  <a:srgbClr val="4A5263"/>
                </a:solidFill>
                <a:latin typeface="IBM Plex Sans" pitchFamily="34" charset="0"/>
                <a:ea typeface="IBM Plex Sans" pitchFamily="34" charset="-122"/>
                <a:cs typeface="IBM Plex Sans" pitchFamily="34" charset="-120"/>
              </a:rPr>
              <a:t>The signal GW150914 came from two merging black holes. PyCBC, one of the two searches that found it, is written mainly in Python.</a:t>
            </a:r>
          </a:p>
        </p:txBody>
      </p:sp>
      <p:sp>
        <p:nvSpPr>
          <p:cNvPr id="7" name="Card 1 note"/>
          <p:cNvSpPr txBox="1"/>
          <p:nvPr/>
        </p:nvSpPr>
        <p:spPr>
          <a:xfrm>
            <a:off x="1066800" y="4241800"/>
            <a:ext cx="2878667" cy="215900"/>
          </a:xfrm>
          <a:prstGeom prst="rect">
            <a:avLst/>
          </a:prstGeom>
          <a:noFill/>
        </p:spPr>
        <p:txBody>
          <a:bodyPr wrap="square" lIns="0" rIns="0" tIns="0" bIns="0" anchor="t">
            <a:noAutofit/>
          </a:bodyPr>
          <a:lstStyle/>
          <a:p>
            <a:pPr algn="l">
              <a:lnSpc>
                <a:spcPts val="1560"/>
              </a:lnSpc>
            </a:pPr>
            <a:r>
              <a:rPr sz="1200" b="1">
                <a:solidFill>
                  <a:srgbClr val="172033"/>
                </a:solidFill>
                <a:latin typeface="IBM Plex Sans" pitchFamily="34" charset="0"/>
                <a:ea typeface="IBM Plex Sans" pitchFamily="34" charset="-122"/>
                <a:cs typeface="IBM Plex Sans" pitchFamily="34" charset="-120"/>
              </a:rPr>
              <a:t>Reproduced in 2021</a:t>
            </a:r>
          </a:p>
        </p:txBody>
      </p:sp>
      <p:sp>
        <p:nvSpPr>
          <p:cNvPr id="8" name="Card 1 source"/>
          <p:cNvSpPr txBox="1"/>
          <p:nvPr/>
        </p:nvSpPr>
        <p:spPr>
          <a:xfrm>
            <a:off x="1066800" y="4533900"/>
            <a:ext cx="2878667" cy="355600"/>
          </a:xfrm>
          <a:prstGeom prst="rect">
            <a:avLst/>
          </a:prstGeom>
          <a:noFill/>
        </p:spPr>
        <p:txBody>
          <a:bodyPr wrap="square" lIns="0" rIns="0" tIns="0" bIns="0" anchor="t">
            <a:noAutofit/>
          </a:bodyPr>
          <a:lstStyle/>
          <a:p>
            <a:pPr algn="l">
              <a:lnSpc>
                <a:spcPts val="1350"/>
              </a:lnSpc>
            </a:pPr>
            <a:r>
              <a:rPr sz="1000" b="0">
                <a:solidFill>
                  <a:srgbClr val="596170"/>
                </a:solidFill>
                <a:latin typeface="IBM Plex Sans" pitchFamily="34" charset="0"/>
                <a:ea typeface="IBM Plex Sans" pitchFamily="34" charset="-122"/>
                <a:cs typeface="IBM Plex Sans" pitchFamily="34" charset="-120"/>
              </a:rPr>
              <a:t>Brown et al., Comput. Sci. Eng. 23(2), 73 (2021)</a:t>
            </a:r>
          </a:p>
        </p:txBody>
      </p:sp>
      <p:sp>
        <p:nvSpPr>
          <p:cNvPr id="9" name="Card 2"/>
          <p:cNvSpPr/>
          <p:nvPr/>
        </p:nvSpPr>
        <p:spPr>
          <a:xfrm>
            <a:off x="4402667" y="1587500"/>
            <a:ext cx="3386667" cy="3556000"/>
          </a:xfrm>
          <a:prstGeom prst="roundRect">
            <a:avLst>
              <a:gd name="adj" fmla="val 3000"/>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rd 2 label"/>
          <p:cNvSpPr txBox="1"/>
          <p:nvPr/>
        </p:nvSpPr>
        <p:spPr>
          <a:xfrm>
            <a:off x="4656667" y="1841500"/>
            <a:ext cx="2878667" cy="215900"/>
          </a:xfrm>
          <a:prstGeom prst="rect">
            <a:avLst/>
          </a:prstGeom>
          <a:noFill/>
        </p:spPr>
        <p:txBody>
          <a:bodyPr wrap="square" lIns="0" rIns="0" tIns="0" bIns="0" anchor="t">
            <a:noAutofit/>
          </a:bodyPr>
          <a:lstStyle/>
          <a:p>
            <a:pPr algn="l">
              <a:lnSpc>
                <a:spcPts val="1679"/>
              </a:lnSpc>
            </a:pPr>
            <a:r>
              <a:rPr sz="1200" b="0">
                <a:solidFill>
                  <a:srgbClr val="A04E10"/>
                </a:solidFill>
                <a:latin typeface="IBM Plex Mono" pitchFamily="49" charset="0"/>
                <a:ea typeface="IBM Plex Mono" pitchFamily="49" charset="-122"/>
                <a:cs typeface="IBM Plex Mono" pitchFamily="49" charset="-120"/>
              </a:rPr>
              <a:t>2019 · Event Horizon Telescope</a:t>
            </a:r>
          </a:p>
        </p:txBody>
      </p:sp>
      <p:sp>
        <p:nvSpPr>
          <p:cNvPr id="11" name="Card 2 title"/>
          <p:cNvSpPr txBox="1"/>
          <p:nvPr/>
        </p:nvSpPr>
        <p:spPr>
          <a:xfrm>
            <a:off x="4656667" y="2159000"/>
            <a:ext cx="2878667" cy="571500"/>
          </a:xfrm>
          <a:prstGeom prst="rect">
            <a:avLst/>
          </a:prstGeom>
          <a:noFill/>
        </p:spPr>
        <p:txBody>
          <a:bodyPr wrap="square" lIns="0" rIns="0" tIns="0" bIns="0" anchor="t">
            <a:noAutofit/>
          </a:bodyPr>
          <a:lstStyle/>
          <a:p>
            <a:pPr algn="l">
              <a:lnSpc>
                <a:spcPts val="2160"/>
              </a:lnSpc>
            </a:pPr>
            <a:r>
              <a:rPr sz="1800" b="1">
                <a:solidFill>
                  <a:srgbClr val="172033"/>
                </a:solidFill>
                <a:latin typeface="IBM Plex Sans" pitchFamily="34" charset="0"/>
                <a:ea typeface="IBM Plex Sans" pitchFamily="34" charset="-122"/>
                <a:cs typeface="IBM Plex Sans" pitchFamily="34" charset="-120"/>
              </a:rPr>
              <a:t>First image of a black hole</a:t>
            </a:r>
          </a:p>
        </p:txBody>
      </p:sp>
      <p:sp>
        <p:nvSpPr>
          <p:cNvPr id="12" name="Card 2 text"/>
          <p:cNvSpPr txBox="1"/>
          <p:nvPr/>
        </p:nvSpPr>
        <p:spPr>
          <a:xfrm>
            <a:off x="4656667" y="2832100"/>
            <a:ext cx="2878667" cy="1524000"/>
          </a:xfrm>
          <a:prstGeom prst="rect">
            <a:avLst/>
          </a:prstGeom>
          <a:noFill/>
        </p:spPr>
        <p:txBody>
          <a:bodyPr wrap="square" lIns="0" rIns="0" tIns="0" bIns="0" anchor="t">
            <a:noAutofit/>
          </a:bodyPr>
          <a:lstStyle/>
          <a:p>
            <a:pPr algn="l">
              <a:lnSpc>
                <a:spcPts val="1959"/>
              </a:lnSpc>
            </a:pPr>
            <a:r>
              <a:rPr sz="1400" b="0">
                <a:solidFill>
                  <a:srgbClr val="4A5263"/>
                </a:solidFill>
                <a:latin typeface="IBM Plex Sans" pitchFamily="34" charset="0"/>
                <a:ea typeface="IBM Plex Sans" pitchFamily="34" charset="-122"/>
                <a:cs typeface="IBM Plex Sans" pitchFamily="34" charset="-120"/>
              </a:rPr>
              <a:t>Eight radio telescopes, over 350 TB of data a day. Processed with NumPy, SciPy, pandas and Astropy; the image was drawn with Matplotlib.</a:t>
            </a:r>
          </a:p>
        </p:txBody>
      </p:sp>
      <p:sp>
        <p:nvSpPr>
          <p:cNvPr id="13" name="Card 2 note"/>
          <p:cNvSpPr txBox="1"/>
          <p:nvPr/>
        </p:nvSpPr>
        <p:spPr>
          <a:xfrm>
            <a:off x="4656667" y="4241800"/>
            <a:ext cx="2878667" cy="215900"/>
          </a:xfrm>
          <a:prstGeom prst="rect">
            <a:avLst/>
          </a:prstGeom>
          <a:noFill/>
        </p:spPr>
        <p:txBody>
          <a:bodyPr wrap="square" lIns="0" rIns="0" tIns="0" bIns="0" anchor="t">
            <a:noAutofit/>
          </a:bodyPr>
          <a:lstStyle/>
          <a:p>
            <a:pPr algn="l">
              <a:lnSpc>
                <a:spcPts val="1560"/>
              </a:lnSpc>
            </a:pPr>
            <a:r>
              <a:rPr sz="1200" b="1">
                <a:solidFill>
                  <a:srgbClr val="172033"/>
                </a:solidFill>
                <a:latin typeface="IBM Plex Sans" pitchFamily="34" charset="0"/>
                <a:ea typeface="IBM Plex Sans" pitchFamily="34" charset="-122"/>
                <a:cs typeface="IBM Plex Sans" pitchFamily="34" charset="-120"/>
              </a:rPr>
              <a:t>Reproduced in 2022</a:t>
            </a:r>
          </a:p>
        </p:txBody>
      </p:sp>
      <p:sp>
        <p:nvSpPr>
          <p:cNvPr id="14" name="Card 2 source"/>
          <p:cNvSpPr txBox="1"/>
          <p:nvPr/>
        </p:nvSpPr>
        <p:spPr>
          <a:xfrm>
            <a:off x="4656667" y="4533900"/>
            <a:ext cx="2878667" cy="355600"/>
          </a:xfrm>
          <a:prstGeom prst="rect">
            <a:avLst/>
          </a:prstGeom>
          <a:noFill/>
        </p:spPr>
        <p:txBody>
          <a:bodyPr wrap="square" lIns="0" rIns="0" tIns="0" bIns="0" anchor="t">
            <a:noAutofit/>
          </a:bodyPr>
          <a:lstStyle/>
          <a:p>
            <a:pPr algn="l">
              <a:lnSpc>
                <a:spcPts val="1350"/>
              </a:lnSpc>
            </a:pPr>
            <a:r>
              <a:rPr sz="1000" b="0">
                <a:solidFill>
                  <a:srgbClr val="596170"/>
                </a:solidFill>
                <a:latin typeface="IBM Plex Sans" pitchFamily="34" charset="0"/>
                <a:ea typeface="IBM Plex Sans" pitchFamily="34" charset="-122"/>
                <a:cs typeface="IBM Plex Sans" pitchFamily="34" charset="-120"/>
              </a:rPr>
              <a:t>numpy.org case study; Patel et al., Comput. Sci. Eng. 24(5), 42 (2022)</a:t>
            </a:r>
          </a:p>
        </p:txBody>
      </p:sp>
      <p:sp>
        <p:nvSpPr>
          <p:cNvPr id="15" name="Card 3"/>
          <p:cNvSpPr/>
          <p:nvPr/>
        </p:nvSpPr>
        <p:spPr>
          <a:xfrm>
            <a:off x="7992533" y="1587500"/>
            <a:ext cx="3386667" cy="3556000"/>
          </a:xfrm>
          <a:prstGeom prst="roundRect">
            <a:avLst>
              <a:gd name="adj" fmla="val 3000"/>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ard 3 label"/>
          <p:cNvSpPr txBox="1"/>
          <p:nvPr/>
        </p:nvSpPr>
        <p:spPr>
          <a:xfrm>
            <a:off x="8246533" y="1841500"/>
            <a:ext cx="2878667" cy="215900"/>
          </a:xfrm>
          <a:prstGeom prst="rect">
            <a:avLst/>
          </a:prstGeom>
          <a:noFill/>
        </p:spPr>
        <p:txBody>
          <a:bodyPr wrap="square" lIns="0" rIns="0" tIns="0" bIns="0" anchor="t">
            <a:noAutofit/>
          </a:bodyPr>
          <a:lstStyle/>
          <a:p>
            <a:pPr algn="l">
              <a:lnSpc>
                <a:spcPts val="1679"/>
              </a:lnSpc>
            </a:pPr>
            <a:r>
              <a:rPr sz="1200" b="0">
                <a:solidFill>
                  <a:srgbClr val="A04E10"/>
                </a:solidFill>
                <a:latin typeface="IBM Plex Mono" pitchFamily="49" charset="0"/>
                <a:ea typeface="IBM Plex Mono" pitchFamily="49" charset="-122"/>
                <a:cs typeface="IBM Plex Mono" pitchFamily="49" charset="-120"/>
              </a:rPr>
              <a:t>2021 · AlphaFold</a:t>
            </a:r>
          </a:p>
        </p:txBody>
      </p:sp>
      <p:sp>
        <p:nvSpPr>
          <p:cNvPr id="17" name="Card 3 title"/>
          <p:cNvSpPr txBox="1"/>
          <p:nvPr/>
        </p:nvSpPr>
        <p:spPr>
          <a:xfrm>
            <a:off x="8246533" y="2159000"/>
            <a:ext cx="2878667" cy="571500"/>
          </a:xfrm>
          <a:prstGeom prst="rect">
            <a:avLst/>
          </a:prstGeom>
          <a:noFill/>
        </p:spPr>
        <p:txBody>
          <a:bodyPr wrap="square" lIns="0" rIns="0" tIns="0" bIns="0" anchor="t">
            <a:noAutofit/>
          </a:bodyPr>
          <a:lstStyle/>
          <a:p>
            <a:pPr algn="l">
              <a:lnSpc>
                <a:spcPts val="2160"/>
              </a:lnSpc>
            </a:pPr>
            <a:r>
              <a:rPr sz="1800" b="1">
                <a:solidFill>
                  <a:srgbClr val="172033"/>
                </a:solidFill>
                <a:latin typeface="IBM Plex Sans" pitchFamily="34" charset="0"/>
                <a:ea typeface="IBM Plex Sans" pitchFamily="34" charset="-122"/>
                <a:cs typeface="IBM Plex Sans" pitchFamily="34" charset="-120"/>
              </a:rPr>
              <a:t>Protein structures from their sequence</a:t>
            </a:r>
          </a:p>
        </p:txBody>
      </p:sp>
      <p:sp>
        <p:nvSpPr>
          <p:cNvPr id="18" name="Card 3 text"/>
          <p:cNvSpPr txBox="1"/>
          <p:nvPr/>
        </p:nvSpPr>
        <p:spPr>
          <a:xfrm>
            <a:off x="8246533" y="2832100"/>
            <a:ext cx="2878667" cy="1524000"/>
          </a:xfrm>
          <a:prstGeom prst="rect">
            <a:avLst/>
          </a:prstGeom>
          <a:noFill/>
        </p:spPr>
        <p:txBody>
          <a:bodyPr wrap="square" lIns="0" rIns="0" tIns="0" bIns="0" anchor="t">
            <a:noAutofit/>
          </a:bodyPr>
          <a:lstStyle/>
          <a:p>
            <a:pPr algn="l">
              <a:lnSpc>
                <a:spcPts val="1959"/>
              </a:lnSpc>
            </a:pPr>
            <a:r>
              <a:rPr sz="1400" b="0">
                <a:solidFill>
                  <a:srgbClr val="4A5263"/>
                </a:solidFill>
                <a:latin typeface="IBM Plex Sans" pitchFamily="34" charset="0"/>
                <a:ea typeface="IBM Plex Sans" pitchFamily="34" charset="-122"/>
                <a:cs typeface="IBM Plex Sans" pitchFamily="34" charset="-120"/>
              </a:rPr>
              <a:t>A neural network that predicts the 3D structure of a protein from its amino-acid sequence. Its open-source code is Python, built on JAX.</a:t>
            </a:r>
          </a:p>
        </p:txBody>
      </p:sp>
      <p:sp>
        <p:nvSpPr>
          <p:cNvPr id="19" name="Card 3 note"/>
          <p:cNvSpPr txBox="1"/>
          <p:nvPr/>
        </p:nvSpPr>
        <p:spPr>
          <a:xfrm>
            <a:off x="8246533" y="4241800"/>
            <a:ext cx="2878667" cy="215900"/>
          </a:xfrm>
          <a:prstGeom prst="rect">
            <a:avLst/>
          </a:prstGeom>
          <a:noFill/>
        </p:spPr>
        <p:txBody>
          <a:bodyPr wrap="square" lIns="0" rIns="0" tIns="0" bIns="0" anchor="t">
            <a:noAutofit/>
          </a:bodyPr>
          <a:lstStyle/>
          <a:p>
            <a:pPr algn="l">
              <a:lnSpc>
                <a:spcPts val="1560"/>
              </a:lnSpc>
            </a:pPr>
            <a:r>
              <a:rPr sz="1200" b="1">
                <a:solidFill>
                  <a:srgbClr val="172033"/>
                </a:solidFill>
                <a:latin typeface="IBM Plex Sans" pitchFamily="34" charset="0"/>
                <a:ea typeface="IBM Plex Sans" pitchFamily="34" charset="-122"/>
                <a:cs typeface="IBM Plex Sans" pitchFamily="34" charset="-120"/>
              </a:rPr>
              <a:t>Nobel Prize in Chemistry 2024</a:t>
            </a:r>
          </a:p>
        </p:txBody>
      </p:sp>
      <p:sp>
        <p:nvSpPr>
          <p:cNvPr id="20" name="Card 3 source"/>
          <p:cNvSpPr txBox="1"/>
          <p:nvPr/>
        </p:nvSpPr>
        <p:spPr>
          <a:xfrm>
            <a:off x="8246533" y="4533900"/>
            <a:ext cx="2878667" cy="355600"/>
          </a:xfrm>
          <a:prstGeom prst="rect">
            <a:avLst/>
          </a:prstGeom>
          <a:noFill/>
        </p:spPr>
        <p:txBody>
          <a:bodyPr wrap="square" lIns="0" rIns="0" tIns="0" bIns="0" anchor="t">
            <a:noAutofit/>
          </a:bodyPr>
          <a:lstStyle/>
          <a:p>
            <a:pPr algn="l">
              <a:lnSpc>
                <a:spcPts val="1350"/>
              </a:lnSpc>
            </a:pPr>
            <a:r>
              <a:rPr sz="1000" b="0">
                <a:solidFill>
                  <a:srgbClr val="596170"/>
                </a:solidFill>
                <a:latin typeface="IBM Plex Sans" pitchFamily="34" charset="0"/>
                <a:ea typeface="IBM Plex Sans" pitchFamily="34" charset="-122"/>
                <a:cs typeface="IBM Plex Sans" pitchFamily="34" charset="-120"/>
              </a:rPr>
              <a:t>Jumper et al., Nature 596, 583 (2021)</a:t>
            </a:r>
          </a:p>
        </p:txBody>
      </p:sp>
      <p:sp>
        <p:nvSpPr>
          <p:cNvPr id="21" name="Takeaway"/>
          <p:cNvSpPr txBox="1"/>
          <p:nvPr/>
        </p:nvSpPr>
        <p:spPr>
          <a:xfrm>
            <a:off x="812800" y="5372100"/>
            <a:ext cx="10566400" cy="635000"/>
          </a:xfrm>
          <a:prstGeom prst="rect">
            <a:avLst/>
          </a:prstGeom>
          <a:noFill/>
        </p:spPr>
        <p:txBody>
          <a:bodyPr wrap="square" lIns="0" rIns="0" tIns="0" bIns="0" anchor="t">
            <a:noAutofit/>
          </a:bodyPr>
          <a:lstStyle/>
          <a:p>
            <a:pPr algn="l">
              <a:lnSpc>
                <a:spcPts val="2430"/>
              </a:lnSpc>
            </a:pPr>
            <a:r>
              <a:rPr sz="1800" b="0">
                <a:solidFill>
                  <a:srgbClr val="172033"/>
                </a:solidFill>
                <a:latin typeface="IBM Plex Sans" pitchFamily="34" charset="0"/>
                <a:ea typeface="IBM Plex Sans" pitchFamily="34" charset="-122"/>
                <a:cs typeface="IBM Plex Sans" pitchFamily="34" charset="-120"/>
              </a:rPr>
              <a:t>Two of the three were checked by independent teams because the code and the data were public: FAIR in practice.</a:t>
            </a:r>
          </a:p>
        </p:txBody>
      </p:sp>
      <p:sp>
        <p:nvSpPr>
          <p:cNvPr id="22" name="Footer"/>
          <p:cNvSpPr txBox="1"/>
          <p:nvPr/>
        </p:nvSpPr>
        <p:spPr>
          <a:xfrm>
            <a:off x="812800" y="6242050"/>
            <a:ext cx="2520950" cy="241300"/>
          </a:xfrm>
          <a:prstGeom prst="rect">
            <a:avLst/>
          </a:prstGeom>
          <a:noFill/>
        </p:spPr>
        <p:txBody>
          <a:bodyPr wrap="square" lIns="0" rIns="0" tIns="0" bIns="0" anchor="t">
            <a:noAutofit/>
          </a:bodyPr>
          <a:lstStyle/>
          <a:p>
            <a:pPr algn="l">
              <a:lnSpc>
                <a:spcPts val="1679"/>
              </a:lnSpc>
            </a:pPr>
            <a:r>
              <a:rPr sz="1200" b="0">
                <a:solidFill>
                  <a:srgbClr val="596170"/>
                </a:solidFill>
                <a:latin typeface="IBM Plex Mono" pitchFamily="49" charset="0"/>
                <a:ea typeface="IBM Plex Mono" pitchFamily="49" charset="-122"/>
                <a:cs typeface="IBM Plex Mono" pitchFamily="49" charset="-120"/>
              </a:rPr>
              <a:t>Python I · MDMC 2026–27</a:t>
            </a:r>
          </a:p>
        </p:txBody>
      </p:sp>
      <p:sp>
        <p:nvSpPr>
          <p:cNvPr id="23" name="Page number"/>
          <p:cNvSpPr txBox="1"/>
          <p:nvPr/>
        </p:nvSpPr>
        <p:spPr>
          <a:xfrm>
            <a:off x="10830560" y="6242050"/>
            <a:ext cx="548640" cy="241300"/>
          </a:xfrm>
          <a:prstGeom prst="rect">
            <a:avLst/>
          </a:prstGeom>
          <a:noFill/>
        </p:spPr>
        <p:txBody>
          <a:bodyPr wrap="square" lIns="0" rIns="0" tIns="0" bIns="0" anchor="t">
            <a:noAutofit/>
          </a:bodyPr>
          <a:lstStyle/>
          <a:p>
            <a:pPr algn="r">
              <a:lnSpc>
                <a:spcPts val="1679"/>
              </a:lnSpc>
            </a:pPr>
            <a:r>
              <a:rPr sz="1200" b="0">
                <a:solidFill>
                  <a:srgbClr val="596170"/>
                </a:solidFill>
                <a:latin typeface="IBM Plex Mono" pitchFamily="49" charset="0"/>
                <a:ea typeface="IBM Plex Mono" pitchFamily="49" charset="-122"/>
                <a:cs typeface="IBM Plex Mono" pitchFamily="49" charset="-120"/>
              </a:rPr>
              <a:t>3 / 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itle 1"/>
          <p:cNvSpPr>
            <a:spLocks noGrp="1"/>
          </p:cNvSpPr>
          <p:nvPr>
            <p:ph type="title"/>
          </p:nvPr>
        </p:nvSpPr>
        <p:spPr>
          <a:xfrm>
            <a:off x="812800" y="812800"/>
            <a:ext cx="10566400" cy="469900"/>
          </a:xfrm>
        </p:spPr>
        <p:txBody>
          <a:bodyPr wrap="square" lIns="0" rIns="0" tIns="0" bIns="0" anchor="t">
            <a:noAutofit/>
          </a:bodyPr>
          <a:lstStyle/>
          <a:p>
            <a:pPr algn="l">
              <a:lnSpc>
                <a:spcPts val="3520"/>
              </a:lnSpc>
            </a:pPr>
            <a:r>
              <a:rPr sz="3200" b="1">
                <a:solidFill>
                  <a:srgbClr val="172033"/>
                </a:solidFill>
                <a:latin typeface="IBM Plex Sans" pitchFamily="34" charset="0"/>
                <a:ea typeface="IBM Plex Sans" pitchFamily="34" charset="-122"/>
                <a:cs typeface="IBM Plex Sans" pitchFamily="34" charset="-120"/>
              </a:rPr>
              <a:t>What you will make this week</a:t>
            </a:r>
          </a:p>
        </p:txBody>
      </p:sp>
      <p:sp>
        <p:nvSpPr>
          <p:cNvPr id="3" name="Card 1"/>
          <p:cNvSpPr/>
          <p:nvPr/>
        </p:nvSpPr>
        <p:spPr>
          <a:xfrm>
            <a:off x="812800" y="1587500"/>
            <a:ext cx="2489200" cy="4267200"/>
          </a:xfrm>
          <a:prstGeom prst="roundRect">
            <a:avLst>
              <a:gd name="adj" fmla="val 3000"/>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Figure 1" descr="t1_pca.png"/>
          <p:cNvPicPr>
            <a:picLocks noChangeAspect="1"/>
          </p:cNvPicPr>
          <p:nvPr/>
        </p:nvPicPr>
        <p:blipFill>
          <a:blip r:embed="rId2"/>
          <a:stretch>
            <a:fillRect/>
          </a:stretch>
        </p:blipFill>
        <p:spPr>
          <a:xfrm>
            <a:off x="914400" y="1689100"/>
            <a:ext cx="2286000" cy="1750219"/>
          </a:xfrm>
          <a:prstGeom prst="rect">
            <a:avLst/>
          </a:prstGeom>
        </p:spPr>
      </p:pic>
      <p:sp>
        <p:nvSpPr>
          <p:cNvPr id="5" name="Card 1 label"/>
          <p:cNvSpPr txBox="1"/>
          <p:nvPr/>
        </p:nvSpPr>
        <p:spPr>
          <a:xfrm>
            <a:off x="965200" y="3591719"/>
            <a:ext cx="2184400" cy="215900"/>
          </a:xfrm>
          <a:prstGeom prst="rect">
            <a:avLst/>
          </a:prstGeom>
          <a:noFill/>
        </p:spPr>
        <p:txBody>
          <a:bodyPr wrap="square" lIns="0" rIns="0" tIns="0" bIns="0" anchor="t">
            <a:noAutofit/>
          </a:bodyPr>
          <a:lstStyle/>
          <a:p>
            <a:pPr algn="l">
              <a:lnSpc>
                <a:spcPts val="1679"/>
              </a:lnSpc>
            </a:pPr>
            <a:r>
              <a:rPr sz="1200" b="0">
                <a:solidFill>
                  <a:srgbClr val="A04E10"/>
                </a:solidFill>
                <a:latin typeface="IBM Plex Mono" pitchFamily="49" charset="0"/>
                <a:ea typeface="IBM Plex Mono" pitchFamily="49" charset="-122"/>
                <a:cs typeface="IBM Plex Mono" pitchFamily="49" charset="-120"/>
              </a:rPr>
              <a:t>notebook 01 · NumPy</a:t>
            </a:r>
          </a:p>
        </p:txBody>
      </p:sp>
      <p:sp>
        <p:nvSpPr>
          <p:cNvPr id="6" name="Card 1 title"/>
          <p:cNvSpPr txBox="1"/>
          <p:nvPr/>
        </p:nvSpPr>
        <p:spPr>
          <a:xfrm>
            <a:off x="965200" y="3871119"/>
            <a:ext cx="2184400" cy="571500"/>
          </a:xfrm>
          <a:prstGeom prst="rect">
            <a:avLst/>
          </a:prstGeom>
          <a:noFill/>
        </p:spPr>
        <p:txBody>
          <a:bodyPr wrap="square" lIns="0" rIns="0" tIns="0" bIns="0" anchor="t">
            <a:noAutofit/>
          </a:bodyPr>
          <a:lstStyle/>
          <a:p>
            <a:pPr algn="l">
              <a:lnSpc>
                <a:spcPts val="2160"/>
              </a:lnSpc>
            </a:pPr>
            <a:r>
              <a:rPr sz="1800" b="1">
                <a:solidFill>
                  <a:srgbClr val="172033"/>
                </a:solidFill>
                <a:latin typeface="IBM Plex Sans" pitchFamily="34" charset="0"/>
                <a:ea typeface="IBM Plex Sans" pitchFamily="34" charset="-122"/>
                <a:cs typeface="IBM Plex Sans" pitchFamily="34" charset="-120"/>
              </a:rPr>
              <a:t>PCA by hand</a:t>
            </a:r>
          </a:p>
        </p:txBody>
      </p:sp>
      <p:sp>
        <p:nvSpPr>
          <p:cNvPr id="7" name="Card 1 text"/>
          <p:cNvSpPr txBox="1"/>
          <p:nvPr/>
        </p:nvSpPr>
        <p:spPr>
          <a:xfrm>
            <a:off x="965200" y="4518819"/>
            <a:ext cx="2184400" cy="1079500"/>
          </a:xfrm>
          <a:prstGeom prst="rect">
            <a:avLst/>
          </a:prstGeom>
          <a:noFill/>
        </p:spPr>
        <p:txBody>
          <a:bodyPr wrap="square" lIns="0" rIns="0" tIns="0" bIns="0" anchor="t">
            <a:noAutofit/>
          </a:bodyPr>
          <a:lstStyle/>
          <a:p>
            <a:pPr algn="l">
              <a:lnSpc>
                <a:spcPts val="1959"/>
              </a:lnSpc>
            </a:pPr>
            <a:r>
              <a:rPr sz="1400" b="0">
                <a:solidFill>
                  <a:srgbClr val="4A5263"/>
                </a:solidFill>
                <a:latin typeface="IBM Plex Sans" pitchFamily="34" charset="0"/>
                <a:ea typeface="IBM Plex Sans" pitchFamily="34" charset="-122"/>
                <a:cs typeface="IBM Plex Sans" pitchFamily="34" charset="-120"/>
              </a:rPr>
              <a:t>A 10-dimensional point cloud: three components carry 99.8% of the variance.</a:t>
            </a:r>
          </a:p>
        </p:txBody>
      </p:sp>
      <p:sp>
        <p:nvSpPr>
          <p:cNvPr id="8" name="Card 2"/>
          <p:cNvSpPr/>
          <p:nvPr/>
        </p:nvSpPr>
        <p:spPr>
          <a:xfrm>
            <a:off x="3505200" y="1587500"/>
            <a:ext cx="2489200" cy="4267200"/>
          </a:xfrm>
          <a:prstGeom prst="roundRect">
            <a:avLst>
              <a:gd name="adj" fmla="val 3000"/>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Figure 2" descr="t2_salary.png"/>
          <p:cNvPicPr>
            <a:picLocks noChangeAspect="1"/>
          </p:cNvPicPr>
          <p:nvPr/>
        </p:nvPicPr>
        <p:blipFill>
          <a:blip r:embed="rId3"/>
          <a:stretch>
            <a:fillRect/>
          </a:stretch>
        </p:blipFill>
        <p:spPr>
          <a:xfrm>
            <a:off x="3606800" y="1689100"/>
            <a:ext cx="2286000" cy="1750219"/>
          </a:xfrm>
          <a:prstGeom prst="rect">
            <a:avLst/>
          </a:prstGeom>
        </p:spPr>
      </p:pic>
      <p:sp>
        <p:nvSpPr>
          <p:cNvPr id="10" name="Card 2 label"/>
          <p:cNvSpPr txBox="1"/>
          <p:nvPr/>
        </p:nvSpPr>
        <p:spPr>
          <a:xfrm>
            <a:off x="3657600" y="3591719"/>
            <a:ext cx="2184400" cy="215900"/>
          </a:xfrm>
          <a:prstGeom prst="rect">
            <a:avLst/>
          </a:prstGeom>
          <a:noFill/>
        </p:spPr>
        <p:txBody>
          <a:bodyPr wrap="square" lIns="0" rIns="0" tIns="0" bIns="0" anchor="t">
            <a:noAutofit/>
          </a:bodyPr>
          <a:lstStyle/>
          <a:p>
            <a:pPr algn="l">
              <a:lnSpc>
                <a:spcPts val="1679"/>
              </a:lnSpc>
            </a:pPr>
            <a:r>
              <a:rPr sz="1200" b="0">
                <a:solidFill>
                  <a:srgbClr val="A04E10"/>
                </a:solidFill>
                <a:latin typeface="IBM Plex Mono" pitchFamily="49" charset="0"/>
                <a:ea typeface="IBM Plex Mono" pitchFamily="49" charset="-122"/>
                <a:cs typeface="IBM Plex Mono" pitchFamily="49" charset="-120"/>
              </a:rPr>
              <a:t>notebook 03 · pandas</a:t>
            </a:r>
          </a:p>
        </p:txBody>
      </p:sp>
      <p:sp>
        <p:nvSpPr>
          <p:cNvPr id="11" name="Card 2 title"/>
          <p:cNvSpPr txBox="1"/>
          <p:nvPr/>
        </p:nvSpPr>
        <p:spPr>
          <a:xfrm>
            <a:off x="3657600" y="3871119"/>
            <a:ext cx="2184400" cy="571500"/>
          </a:xfrm>
          <a:prstGeom prst="rect">
            <a:avLst/>
          </a:prstGeom>
          <a:noFill/>
        </p:spPr>
        <p:txBody>
          <a:bodyPr wrap="square" lIns="0" rIns="0" tIns="0" bIns="0" anchor="t">
            <a:noAutofit/>
          </a:bodyPr>
          <a:lstStyle/>
          <a:p>
            <a:pPr algn="l">
              <a:lnSpc>
                <a:spcPts val="2160"/>
              </a:lnSpc>
            </a:pPr>
            <a:r>
              <a:rPr sz="1800" b="1">
                <a:solidFill>
                  <a:srgbClr val="172033"/>
                </a:solidFill>
                <a:latin typeface="IBM Plex Sans" pitchFamily="34" charset="0"/>
                <a:ea typeface="IBM Plex Sans" pitchFamily="34" charset="-122"/>
                <a:cs typeface="IBM Plex Sans" pitchFamily="34" charset="-120"/>
              </a:rPr>
              <a:t>Explore a dataset</a:t>
            </a:r>
          </a:p>
        </p:txBody>
      </p:sp>
      <p:sp>
        <p:nvSpPr>
          <p:cNvPr id="12" name="Card 2 text"/>
          <p:cNvSpPr txBox="1"/>
          <p:nvPr/>
        </p:nvSpPr>
        <p:spPr>
          <a:xfrm>
            <a:off x="3657600" y="4518819"/>
            <a:ext cx="2184400" cy="1079500"/>
          </a:xfrm>
          <a:prstGeom prst="rect">
            <a:avLst/>
          </a:prstGeom>
          <a:noFill/>
        </p:spPr>
        <p:txBody>
          <a:bodyPr wrap="square" lIns="0" rIns="0" tIns="0" bIns="0" anchor="t">
            <a:noAutofit/>
          </a:bodyPr>
          <a:lstStyle/>
          <a:p>
            <a:pPr algn="l">
              <a:lnSpc>
                <a:spcPts val="1959"/>
              </a:lnSpc>
            </a:pPr>
            <a:r>
              <a:rPr sz="1400" b="0">
                <a:solidFill>
                  <a:srgbClr val="4A5263"/>
                </a:solidFill>
                <a:latin typeface="IBM Plex Sans" pitchFamily="34" charset="0"/>
                <a:ea typeface="IBM Plex Sans" pitchFamily="34" charset="-122"/>
                <a:cs typeface="IBM Plex Sans" pitchFamily="34" charset="-120"/>
              </a:rPr>
              <a:t>200 employees: salary grows with tenure (r = 0.70) and differs by department.</a:t>
            </a:r>
          </a:p>
        </p:txBody>
      </p:sp>
      <p:sp>
        <p:nvSpPr>
          <p:cNvPr id="13" name="Card 3"/>
          <p:cNvSpPr/>
          <p:nvPr/>
        </p:nvSpPr>
        <p:spPr>
          <a:xfrm>
            <a:off x="6197600" y="1587500"/>
            <a:ext cx="2489200" cy="4267200"/>
          </a:xfrm>
          <a:prstGeom prst="roundRect">
            <a:avLst>
              <a:gd name="adj" fmla="val 3000"/>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Figure 3" descr="t3_mlp.png"/>
          <p:cNvPicPr>
            <a:picLocks noChangeAspect="1"/>
          </p:cNvPicPr>
          <p:nvPr/>
        </p:nvPicPr>
        <p:blipFill>
          <a:blip r:embed="rId4"/>
          <a:stretch>
            <a:fillRect/>
          </a:stretch>
        </p:blipFill>
        <p:spPr>
          <a:xfrm>
            <a:off x="6299200" y="1689100"/>
            <a:ext cx="2286000" cy="1750219"/>
          </a:xfrm>
          <a:prstGeom prst="rect">
            <a:avLst/>
          </a:prstGeom>
        </p:spPr>
      </p:pic>
      <p:sp>
        <p:nvSpPr>
          <p:cNvPr id="15" name="Card 3 label"/>
          <p:cNvSpPr txBox="1"/>
          <p:nvPr/>
        </p:nvSpPr>
        <p:spPr>
          <a:xfrm>
            <a:off x="6350000" y="3591719"/>
            <a:ext cx="2184400" cy="215900"/>
          </a:xfrm>
          <a:prstGeom prst="rect">
            <a:avLst/>
          </a:prstGeom>
          <a:noFill/>
        </p:spPr>
        <p:txBody>
          <a:bodyPr wrap="square" lIns="0" rIns="0" tIns="0" bIns="0" anchor="t">
            <a:noAutofit/>
          </a:bodyPr>
          <a:lstStyle/>
          <a:p>
            <a:pPr algn="l">
              <a:lnSpc>
                <a:spcPts val="1679"/>
              </a:lnSpc>
            </a:pPr>
            <a:r>
              <a:rPr sz="1200" b="0">
                <a:solidFill>
                  <a:srgbClr val="A04E10"/>
                </a:solidFill>
                <a:latin typeface="IBM Plex Mono" pitchFamily="49" charset="0"/>
                <a:ea typeface="IBM Plex Mono" pitchFamily="49" charset="-122"/>
                <a:cs typeface="IBM Plex Mono" pitchFamily="49" charset="-120"/>
              </a:rPr>
              <a:t>notebook 06 · PyTorch</a:t>
            </a:r>
          </a:p>
        </p:txBody>
      </p:sp>
      <p:sp>
        <p:nvSpPr>
          <p:cNvPr id="16" name="Card 3 title"/>
          <p:cNvSpPr txBox="1"/>
          <p:nvPr/>
        </p:nvSpPr>
        <p:spPr>
          <a:xfrm>
            <a:off x="6350000" y="3871119"/>
            <a:ext cx="2184400" cy="571500"/>
          </a:xfrm>
          <a:prstGeom prst="rect">
            <a:avLst/>
          </a:prstGeom>
          <a:noFill/>
        </p:spPr>
        <p:txBody>
          <a:bodyPr wrap="square" lIns="0" rIns="0" tIns="0" bIns="0" anchor="t">
            <a:noAutofit/>
          </a:bodyPr>
          <a:lstStyle/>
          <a:p>
            <a:pPr algn="l">
              <a:lnSpc>
                <a:spcPts val="2160"/>
              </a:lnSpc>
            </a:pPr>
            <a:r>
              <a:rPr sz="1800" b="1">
                <a:solidFill>
                  <a:srgbClr val="172033"/>
                </a:solidFill>
                <a:latin typeface="IBM Plex Sans" pitchFamily="34" charset="0"/>
                <a:ea typeface="IBM Plex Sans" pitchFamily="34" charset="-122"/>
                <a:cs typeface="IBM Plex Sans" pitchFamily="34" charset="-120"/>
              </a:rPr>
              <a:t>A first network</a:t>
            </a:r>
          </a:p>
        </p:txBody>
      </p:sp>
      <p:sp>
        <p:nvSpPr>
          <p:cNvPr id="17" name="Card 3 text"/>
          <p:cNvSpPr txBox="1"/>
          <p:nvPr/>
        </p:nvSpPr>
        <p:spPr>
          <a:xfrm>
            <a:off x="6350000" y="4518819"/>
            <a:ext cx="2184400" cy="1079500"/>
          </a:xfrm>
          <a:prstGeom prst="rect">
            <a:avLst/>
          </a:prstGeom>
          <a:noFill/>
        </p:spPr>
        <p:txBody>
          <a:bodyPr wrap="square" lIns="0" rIns="0" tIns="0" bIns="0" anchor="t">
            <a:noAutofit/>
          </a:bodyPr>
          <a:lstStyle/>
          <a:p>
            <a:pPr algn="l">
              <a:lnSpc>
                <a:spcPts val="1959"/>
              </a:lnSpc>
            </a:pPr>
            <a:r>
              <a:rPr sz="1400" b="0">
                <a:solidFill>
                  <a:srgbClr val="4A5263"/>
                </a:solidFill>
                <a:latin typeface="IBM Plex Sans" pitchFamily="34" charset="0"/>
                <a:ea typeface="IBM Plex Sans" pitchFamily="34" charset="-122"/>
                <a:cs typeface="IBM Plex Sans" pitchFamily="34" charset="-120"/>
              </a:rPr>
              <a:t>1,153 parameters fit a curve that no straight line can.</a:t>
            </a:r>
          </a:p>
        </p:txBody>
      </p:sp>
      <p:sp>
        <p:nvSpPr>
          <p:cNvPr id="18" name="Card 4"/>
          <p:cNvSpPr/>
          <p:nvPr/>
        </p:nvSpPr>
        <p:spPr>
          <a:xfrm>
            <a:off x="8890000" y="1587500"/>
            <a:ext cx="2489200" cy="4267200"/>
          </a:xfrm>
          <a:prstGeom prst="roundRect">
            <a:avLst>
              <a:gd name="adj" fmla="val 3000"/>
            </a:avLst>
          </a:prstGeom>
          <a:solidFill>
            <a:srgbClr val="ECE8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Figure 4" descr="t4_digits.png"/>
          <p:cNvPicPr>
            <a:picLocks noChangeAspect="1"/>
          </p:cNvPicPr>
          <p:nvPr/>
        </p:nvPicPr>
        <p:blipFill>
          <a:blip r:embed="rId5"/>
          <a:stretch>
            <a:fillRect/>
          </a:stretch>
        </p:blipFill>
        <p:spPr>
          <a:xfrm>
            <a:off x="8991600" y="1689100"/>
            <a:ext cx="2286000" cy="1750219"/>
          </a:xfrm>
          <a:prstGeom prst="rect">
            <a:avLst/>
          </a:prstGeom>
        </p:spPr>
      </p:pic>
      <p:sp>
        <p:nvSpPr>
          <p:cNvPr id="20" name="Card 4 label"/>
          <p:cNvSpPr txBox="1"/>
          <p:nvPr/>
        </p:nvSpPr>
        <p:spPr>
          <a:xfrm>
            <a:off x="9042400" y="3591719"/>
            <a:ext cx="2184400" cy="215900"/>
          </a:xfrm>
          <a:prstGeom prst="rect">
            <a:avLst/>
          </a:prstGeom>
          <a:noFill/>
        </p:spPr>
        <p:txBody>
          <a:bodyPr wrap="square" lIns="0" rIns="0" tIns="0" bIns="0" anchor="t">
            <a:noAutofit/>
          </a:bodyPr>
          <a:lstStyle/>
          <a:p>
            <a:pPr algn="l">
              <a:lnSpc>
                <a:spcPts val="1679"/>
              </a:lnSpc>
            </a:pPr>
            <a:r>
              <a:rPr sz="1200" b="0">
                <a:solidFill>
                  <a:srgbClr val="A04E10"/>
                </a:solidFill>
                <a:latin typeface="IBM Plex Mono" pitchFamily="49" charset="0"/>
                <a:ea typeface="IBM Plex Mono" pitchFamily="49" charset="-122"/>
                <a:cs typeface="IBM Plex Mono" pitchFamily="49" charset="-120"/>
              </a:rPr>
              <a:t>notebook 09 · PyTorch</a:t>
            </a:r>
          </a:p>
        </p:txBody>
      </p:sp>
      <p:sp>
        <p:nvSpPr>
          <p:cNvPr id="21" name="Card 4 title"/>
          <p:cNvSpPr txBox="1"/>
          <p:nvPr/>
        </p:nvSpPr>
        <p:spPr>
          <a:xfrm>
            <a:off x="9042400" y="3871119"/>
            <a:ext cx="2184400" cy="571500"/>
          </a:xfrm>
          <a:prstGeom prst="rect">
            <a:avLst/>
          </a:prstGeom>
          <a:noFill/>
        </p:spPr>
        <p:txBody>
          <a:bodyPr wrap="square" lIns="0" rIns="0" tIns="0" bIns="0" anchor="t">
            <a:noAutofit/>
          </a:bodyPr>
          <a:lstStyle/>
          <a:p>
            <a:pPr algn="l">
              <a:lnSpc>
                <a:spcPts val="2160"/>
              </a:lnSpc>
            </a:pPr>
            <a:r>
              <a:rPr sz="1800" b="1">
                <a:solidFill>
                  <a:srgbClr val="172033"/>
                </a:solidFill>
                <a:latin typeface="IBM Plex Sans" pitchFamily="34" charset="0"/>
                <a:ea typeface="IBM Plex Sans" pitchFamily="34" charset="-122"/>
                <a:cs typeface="IBM Plex Sans" pitchFamily="34" charset="-120"/>
              </a:rPr>
              <a:t>Classify digits</a:t>
            </a:r>
          </a:p>
        </p:txBody>
      </p:sp>
      <p:sp>
        <p:nvSpPr>
          <p:cNvPr id="22" name="Card 4 text"/>
          <p:cNvSpPr txBox="1"/>
          <p:nvPr/>
        </p:nvSpPr>
        <p:spPr>
          <a:xfrm>
            <a:off x="9042400" y="4518819"/>
            <a:ext cx="2184400" cy="1079500"/>
          </a:xfrm>
          <a:prstGeom prst="rect">
            <a:avLst/>
          </a:prstGeom>
          <a:noFill/>
        </p:spPr>
        <p:txBody>
          <a:bodyPr wrap="square" lIns="0" rIns="0" tIns="0" bIns="0" anchor="t">
            <a:noAutofit/>
          </a:bodyPr>
          <a:lstStyle/>
          <a:p>
            <a:pPr algn="l">
              <a:lnSpc>
                <a:spcPts val="1959"/>
              </a:lnSpc>
            </a:pPr>
            <a:r>
              <a:rPr sz="1400" b="0">
                <a:solidFill>
                  <a:srgbClr val="4A5263"/>
                </a:solidFill>
                <a:latin typeface="IBM Plex Sans" pitchFamily="34" charset="0"/>
                <a:ea typeface="IBM Plex Sans" pitchFamily="34" charset="-122"/>
                <a:cs typeface="IBM Plex Sans" pitchFamily="34" charset="-120"/>
              </a:rPr>
              <a:t>97% accuracy on unseen test images, against 93% for a linear model.</a:t>
            </a:r>
          </a:p>
        </p:txBody>
      </p:sp>
      <p:sp>
        <p:nvSpPr>
          <p:cNvPr id="23" name="Footer"/>
          <p:cNvSpPr txBox="1"/>
          <p:nvPr/>
        </p:nvSpPr>
        <p:spPr>
          <a:xfrm>
            <a:off x="812800" y="6242050"/>
            <a:ext cx="2520950" cy="241300"/>
          </a:xfrm>
          <a:prstGeom prst="rect">
            <a:avLst/>
          </a:prstGeom>
          <a:noFill/>
        </p:spPr>
        <p:txBody>
          <a:bodyPr wrap="square" lIns="0" rIns="0" tIns="0" bIns="0" anchor="t">
            <a:noAutofit/>
          </a:bodyPr>
          <a:lstStyle/>
          <a:p>
            <a:pPr algn="l">
              <a:lnSpc>
                <a:spcPts val="1679"/>
              </a:lnSpc>
            </a:pPr>
            <a:r>
              <a:rPr sz="1200" b="0">
                <a:solidFill>
                  <a:srgbClr val="596170"/>
                </a:solidFill>
                <a:latin typeface="IBM Plex Mono" pitchFamily="49" charset="0"/>
                <a:ea typeface="IBM Plex Mono" pitchFamily="49" charset="-122"/>
                <a:cs typeface="IBM Plex Mono" pitchFamily="49" charset="-120"/>
              </a:rPr>
              <a:t>Python I · MDMC 2026–27</a:t>
            </a:r>
          </a:p>
        </p:txBody>
      </p:sp>
      <p:sp>
        <p:nvSpPr>
          <p:cNvPr id="24" name="Page number"/>
          <p:cNvSpPr txBox="1"/>
          <p:nvPr/>
        </p:nvSpPr>
        <p:spPr>
          <a:xfrm>
            <a:off x="10830560" y="6242050"/>
            <a:ext cx="548640" cy="241300"/>
          </a:xfrm>
          <a:prstGeom prst="rect">
            <a:avLst/>
          </a:prstGeom>
          <a:noFill/>
        </p:spPr>
        <p:txBody>
          <a:bodyPr wrap="square" lIns="0" rIns="0" tIns="0" bIns="0" anchor="t">
            <a:noAutofit/>
          </a:bodyPr>
          <a:lstStyle/>
          <a:p>
            <a:pPr algn="r">
              <a:lnSpc>
                <a:spcPts val="1679"/>
              </a:lnSpc>
            </a:pPr>
            <a:r>
              <a:rPr sz="1200" b="0">
                <a:solidFill>
                  <a:srgbClr val="596170"/>
                </a:solidFill>
                <a:latin typeface="IBM Plex Mono" pitchFamily="49" charset="0"/>
                <a:ea typeface="IBM Plex Mono" pitchFamily="49" charset="-122"/>
                <a:cs typeface="IBM Plex Mono" pitchFamily="49" charset="-120"/>
              </a:rPr>
              <a:t>5 / 9</a:t>
            </a:r>
          </a:p>
        </p:txBody>
      </p:sp>
    </p:spTree>
  </p:cSld>
  <p:clrMapOvr>
    <a:masterClrMapping/>
  </p:clrMapOvr>
</p:sld>
</file>

<file path=ppt/theme/theme1.xml><?xml version="1.0" encoding="utf-8"?>
<a:theme xmlns:a="http://schemas.openxmlformats.org/drawingml/2006/main" name="Python I — course overview">
  <a:themeElements>
    <a:clrScheme name="Python I — course overview">
      <a:dk1>
        <a:srgbClr val="172033"/>
      </a:dk1>
      <a:lt1>
        <a:srgbClr val="F6F4EE"/>
      </a:lt1>
      <a:dk2>
        <a:srgbClr val="4F5562"/>
      </a:dk2>
      <a:lt2>
        <a:srgbClr val="E0DFDB"/>
      </a:lt2>
      <a:accent1>
        <a:srgbClr val="2F5D8A"/>
      </a:accent1>
      <a:accent2>
        <a:srgbClr val="A04E10"/>
      </a:accent2>
      <a:accent3>
        <a:srgbClr val="C8661A"/>
      </a:accent3>
      <a:accent4>
        <a:srgbClr val="F0A35E"/>
      </a:accent4>
      <a:accent5>
        <a:srgbClr val="EDB36B"/>
      </a:accent5>
      <a:accent6>
        <a:srgbClr val="596170"/>
      </a:accent6>
      <a:hlink>
        <a:srgbClr val="0563C1"/>
      </a:hlink>
      <a:folHlink>
        <a:srgbClr val="954F72"/>
      </a:folHlink>
    </a:clrScheme>
    <a:fontScheme name="Python I — course overview">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TotalTime>
  <Words>1136</Words>
  <Application>Microsoft Macintosh PowerPoint</Application>
  <PresentationFormat>Widescreen</PresentationFormat>
  <Paragraphs>154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IBM Plex Mono</vt:lpstr>
      <vt:lpstr>IBM Plex Sans</vt:lpstr>
      <vt:lpstr>Python I — course overview</vt:lpstr>
      <vt:lpstr>Python I</vt:lpstr>
      <vt:lpstr>Why this module</vt:lpstr>
      <vt:lpstr>By Friday 16 October you will be able to</vt:lpstr>
      <vt:lpstr>Where Python I sits in the coursework</vt:lpstr>
      <vt:lpstr>What we cover, and what comes before and after</vt:lpstr>
      <vt:lpstr>Schedule: four days, nine blocks of two hours</vt:lpstr>
      <vt:lpstr>How we will 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I — course overview</dc:title>
  <dc:subject/>
  <dc:creator/>
  <cp:lastModifiedBy>Matteo Biagetti</cp:lastModifiedBy>
  <cp:revision>2</cp:revision>
  <dcterms:created xsi:type="dcterms:W3CDTF">2026-10-01T09:26:33Z</dcterms:created>
  <dcterms:modified xsi:type="dcterms:W3CDTF">2026-10-08T08:40:28Z</dcterms:modified>
</cp:coreProperties>
</file>